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24384000" cy="13716000"/>
  <p:notesSz cx="13716000" cy="24384000"/>
  <p:embeddedFontLst>
    <p:embeddedFont>
      <p:font typeface="Liter" charset="-122" pitchFamily="34"/>
      <p:regular r:id="rId17"/>
    </p:embeddedFont>
    <p:embeddedFont>
      <p:font typeface="Quattrocento Sans" charset="-122" pitchFamily="34"/>
      <p:regular r:id="rId18"/>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reviewers. Introduce the project name, the company Ganga Maxx Marketplace, and your team of three students with their roles. Mention this is your Review 1 presentation at the end of Week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that Ganga Maxx is a real B2B operation with complex daily logistics. Mention the variety of institutional customers. Avoid reading every bullet point verbatim — highlight 2-3 key operations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brief. State your department, duration, and team roles clearly. Mention what the company expects — a functional prototype. Transition naturally to the project overview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last-mile delivery clearly for non-technical reviewers — it is the final warehouse-to-institution leg. Explain the two-sided user base (input side and operations side) to show you understand the full business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stage for why this project matters. Describe the current manual process briefly — calls, WhatsApp, spreadsheets. Highlight that this affects real people: the coordinator, warehouse staff, and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after presenting the problem statement. Invite reviewers to ask questions before moving to the solution. The problem statement sentence is the anchor — read it clearly and slowly.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high-level. Do not go deep into code or technical details yet — that comes in the tech stack slide. Focus on what the system does and the 4-step end-to-end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objective confidently and clearly. Be ready to explain how each objective will be measured — for example, the dashboard is measured by whether it displays all active deliveries; the prototype is measured by the public URL and demo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abstract slowly and clearly — this is the elevator pitch of the entire project. It should take about 60-90 seconds to read aloud. Make eye contact with reviewers during key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confidently. Summarise Week 1 achievements quickly, then walk through the 4-week timeline. Mention that the GitHub repository is live and available for review. Open the floor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Shape 0"/>
          <p:cNvSpPr/>
          <p:nvPr/>
        </p:nvSpPr>
        <p:spPr>
          <a:xfrm>
            <a:off x="17780000" y="6350000"/>
            <a:ext cx="4826000" cy="4826000"/>
          </a:xfrm>
          <a:prstGeom prst="ellipse">
            <a:avLst/>
          </a:prstGeom>
          <a:solidFill>
            <a:srgbClr val="10B981">
              <a:alpha val="9412"/>
            </a:srgbClr>
          </a:solidFill>
          <a:ln/>
        </p:spPr>
      </p:sp>
      <p:sp>
        <p:nvSpPr>
          <p:cNvPr id="4" name="Shape 1"/>
          <p:cNvSpPr/>
          <p:nvPr/>
        </p:nvSpPr>
        <p:spPr>
          <a:xfrm>
            <a:off x="19685000" y="8255000"/>
            <a:ext cx="3302000" cy="3302000"/>
          </a:xfrm>
          <a:prstGeom prst="ellipse">
            <a:avLst/>
          </a:prstGeom>
          <a:solidFill>
            <a:srgbClr val="1A1A1A">
              <a:alpha val="7059"/>
            </a:srgbClr>
          </a:solidFill>
          <a:ln/>
        </p:spPr>
      </p:sp>
      <p:sp>
        <p:nvSpPr>
          <p:cNvPr id="5" name="Shape 2"/>
          <p:cNvSpPr/>
          <p:nvPr/>
        </p:nvSpPr>
        <p:spPr>
          <a:xfrm>
            <a:off x="16510000" y="9525000"/>
            <a:ext cx="6350000" cy="38100"/>
          </a:xfrm>
          <a:prstGeom prst="rect">
            <a:avLst/>
          </a:prstGeom>
          <a:solidFill>
            <a:srgbClr val="10B981">
              <a:alpha val="25098"/>
            </a:srgbClr>
          </a:solidFill>
          <a:ln/>
        </p:spPr>
      </p:sp>
      <p:sp>
        <p:nvSpPr>
          <p:cNvPr id="6" name="Shape 3"/>
          <p:cNvSpPr/>
          <p:nvPr/>
        </p:nvSpPr>
        <p:spPr>
          <a:xfrm>
            <a:off x="15240000" y="7620000"/>
            <a:ext cx="38100" cy="3810000"/>
          </a:xfrm>
          <a:prstGeom prst="rect">
            <a:avLst/>
          </a:prstGeom>
          <a:solidFill>
            <a:srgbClr val="1A1A1A">
              <a:alpha val="12549"/>
            </a:srgbClr>
          </a:solidFill>
          <a:ln/>
        </p:spPr>
      </p:sp>
      <p:sp>
        <p:nvSpPr>
          <p:cNvPr id="7" name="Text 4"/>
          <p:cNvSpPr/>
          <p:nvPr/>
        </p:nvSpPr>
        <p:spPr>
          <a:xfrm>
            <a:off x="19450939" y="1357630"/>
            <a:ext cx="3683381" cy="2618867"/>
          </a:xfrm>
          <a:prstGeom prst="rect">
            <a:avLst/>
          </a:prstGeom>
          <a:noFill/>
          <a:ln/>
        </p:spPr>
        <p:txBody>
          <a:bodyPr wrap="none" lIns="0" tIns="0" rIns="0" bIns="0" rtlCol="0" anchor="t"/>
          <a:lstStyle/>
          <a:p>
            <a:pPr algn="r">
              <a:lnSpc>
                <a:spcPct val="100000"/>
              </a:lnSpc>
            </a:pPr>
            <a:r>
              <a:rPr lang="en-US" sz="16000" dirty="0">
                <a:solidFill>
                  <a:srgbClr val="10B981"/>
                </a:solidFill>
                <a:latin typeface="Liter" pitchFamily="34" charset="0"/>
                <a:ea typeface="Liter" pitchFamily="34" charset="-122"/>
                <a:cs typeface="Liter" pitchFamily="34" charset="-120"/>
              </a:rPr>
              <a:t>01</a:t>
            </a:r>
            <a:endParaRPr lang="en-US" sz="1600" dirty="0"/>
          </a:p>
        </p:txBody>
      </p:sp>
      <p:sp>
        <p:nvSpPr>
          <p:cNvPr id="8" name="Text 5"/>
          <p:cNvSpPr/>
          <p:nvPr/>
        </p:nvSpPr>
        <p:spPr>
          <a:xfrm>
            <a:off x="1270000" y="4318000"/>
            <a:ext cx="21844000" cy="3175000"/>
          </a:xfrm>
          <a:prstGeom prst="rect">
            <a:avLst/>
          </a:prstGeom>
          <a:noFill/>
          <a:ln/>
        </p:spPr>
        <p:txBody>
          <a:bodyPr wrap="square" lIns="0" tIns="0" rIns="0" bIns="0" rtlCol="0" anchor="t"/>
          <a:lstStyle/>
          <a:p>
            <a:pPr algn="ctr">
              <a:lnSpc>
                <a:spcPct val="100000"/>
              </a:lnSpc>
            </a:pPr>
            <a:r>
              <a:rPr lang="en-US" sz="8000" b="1" dirty="0">
                <a:solidFill>
                  <a:srgbClr val="1A1A1A"/>
                </a:solidFill>
                <a:latin typeface="Liter" pitchFamily="34" charset="0"/>
                <a:ea typeface="Liter" pitchFamily="34" charset="-122"/>
                <a:cs typeface="Liter" pitchFamily="34" charset="-120"/>
              </a:rPr>
              <a:t>B2B Cleaning Supplies</a:t>
            </a:r>
            <a:endParaRPr lang="en-US" sz="1600" dirty="0"/>
          </a:p>
          <a:p>
            <a:pPr algn="ctr">
              <a:lnSpc>
                <a:spcPct val="100000"/>
              </a:lnSpc>
            </a:pPr>
            <a:r>
              <a:rPr lang="en-US" sz="8000" b="1" dirty="0">
                <a:solidFill>
                  <a:srgbClr val="1A1A1A"/>
                </a:solidFill>
                <a:latin typeface="Liter" pitchFamily="34" charset="0"/>
                <a:ea typeface="Liter" pitchFamily="34" charset="-122"/>
                <a:cs typeface="Liter" pitchFamily="34" charset="-120"/>
              </a:rPr>
              <a:t>Last-Mile Delivery Tracker</a:t>
            </a:r>
            <a:endParaRPr lang="en-US" sz="1600" dirty="0"/>
          </a:p>
        </p:txBody>
      </p:sp>
      <p:sp>
        <p:nvSpPr>
          <p:cNvPr id="9" name="Text 6"/>
          <p:cNvSpPr/>
          <p:nvPr/>
        </p:nvSpPr>
        <p:spPr>
          <a:xfrm>
            <a:off x="1270000" y="7620000"/>
            <a:ext cx="21844000" cy="762000"/>
          </a:xfrm>
          <a:prstGeom prst="rect">
            <a:avLst/>
          </a:prstGeom>
          <a:noFill/>
          <a:ln/>
        </p:spPr>
        <p:txBody>
          <a:bodyPr wrap="none" lIns="0" tIns="0" rIns="0" bIns="0" rtlCol="0" anchor="t"/>
          <a:lstStyle/>
          <a:p>
            <a:pPr algn="ctr">
              <a:lnSpc>
                <a:spcPct val="100000"/>
              </a:lnSpc>
            </a:pPr>
            <a:r>
              <a:rPr lang="en-US" sz="3600" dirty="0">
                <a:solidFill>
                  <a:srgbClr val="10B981"/>
                </a:solidFill>
                <a:latin typeface="Liter" pitchFamily="34" charset="0"/>
                <a:ea typeface="Liter" pitchFamily="34" charset="-122"/>
                <a:cs typeface="Liter" pitchFamily="34" charset="-120"/>
              </a:rPr>
              <a:t>Review 1 Presentation — Week 1</a:t>
            </a:r>
            <a:endParaRPr lang="en-US" sz="1600" dirty="0"/>
          </a:p>
        </p:txBody>
      </p:sp>
      <p:sp>
        <p:nvSpPr>
          <p:cNvPr id="10" name="Text 7"/>
          <p:cNvSpPr/>
          <p:nvPr/>
        </p:nvSpPr>
        <p:spPr>
          <a:xfrm>
            <a:off x="1270000" y="8636000"/>
            <a:ext cx="21844000" cy="635000"/>
          </a:xfrm>
          <a:prstGeom prst="rect">
            <a:avLst/>
          </a:prstGeom>
          <a:noFill/>
          <a:ln/>
        </p:spPr>
        <p:txBody>
          <a:bodyPr wrap="none" lIns="0" tIns="0" rIns="0" bIns="0" rtlCol="0" anchor="t"/>
          <a:lstStyle/>
          <a:p>
            <a:pPr algn="ctr">
              <a:lnSpc>
                <a:spcPct val="100000"/>
              </a:lnSpc>
            </a:pPr>
            <a:r>
              <a:rPr lang="en-US" sz="2800" dirty="0">
                <a:solidFill>
                  <a:srgbClr val="1A1A1A"/>
                </a:solidFill>
                <a:latin typeface="Quattrocento Sans" pitchFamily="34" charset="0"/>
                <a:ea typeface="Quattrocento Sans" pitchFamily="34" charset="-122"/>
                <a:cs typeface="Quattrocento Sans" pitchFamily="34" charset="-120"/>
              </a:rPr>
              <a:t>Ganga Maxx Marketplace</a:t>
            </a:r>
            <a:endParaRPr lang="en-US" sz="1600" dirty="0"/>
          </a:p>
        </p:txBody>
      </p:sp>
      <p:sp>
        <p:nvSpPr>
          <p:cNvPr id="11" name="Text 8"/>
          <p:cNvSpPr/>
          <p:nvPr/>
        </p:nvSpPr>
        <p:spPr>
          <a:xfrm>
            <a:off x="1270000" y="9525000"/>
            <a:ext cx="21844000" cy="1651000"/>
          </a:xfrm>
          <a:prstGeom prst="rect">
            <a:avLst/>
          </a:prstGeom>
          <a:noFill/>
          <a:ln/>
        </p:spPr>
        <p:txBody>
          <a:bodyPr wrap="none" lIns="0" tIns="0" rIns="0" bIns="0" rtlCol="0" anchor="t"/>
          <a:lstStyle/>
          <a:p>
            <a:pPr>
              <a:lnSpc>
                <a:spcPct val="100000"/>
              </a:lnSpc>
            </a:pPr>
            <a:r>
              <a:rPr lang="en-US" sz="3000" dirty="0">
                <a:solidFill>
                  <a:srgbClr val="1A1A1A"/>
                </a:solidFill>
                <a:latin typeface="Quattrocento Sans" pitchFamily="34" charset="0"/>
                <a:ea typeface="Quattrocento Sans" pitchFamily="34" charset="-122"/>
                <a:cs typeface="Quattrocento Sans" pitchFamily="34" charset="-120"/>
              </a:rPr>
              <a:t>         </a:t>
            </a:r>
            <a:pPr>
              <a:lnSpc>
                <a:spcPct val="100000"/>
              </a:lnSpc>
            </a:pPr>
            <a:r>
              <a:rPr lang="en-US" sz="3000" b="1" dirty="0">
                <a:solidFill>
                  <a:srgbClr val="1A1A1A"/>
                </a:solidFill>
                <a:latin typeface="Quattrocento Sans" pitchFamily="34" charset="0"/>
                <a:ea typeface="Quattrocento Sans" pitchFamily="34" charset="-122"/>
                <a:cs typeface="Quattrocento Sans" pitchFamily="34" charset="-120"/>
              </a:rPr>
              <a:t>Gudelly Goverdhan-252U1R1098 Frontend Developer  |</a:t>
            </a:r>
            <a:pPr>
              <a:lnSpc>
                <a:spcPct val="100000"/>
              </a:lnSpc>
            </a:pPr>
            <a:r>
              <a:rPr lang="en-US" sz="3000" dirty="0">
                <a:solidFill>
                  <a:srgbClr val="1A1A1A"/>
                </a:solidFill>
                <a:latin typeface="Quattrocento Sans" pitchFamily="34" charset="0"/>
                <a:ea typeface="Quattrocento Sans" pitchFamily="34" charset="-122"/>
                <a:cs typeface="Quattrocento Sans" pitchFamily="34" charset="-120"/>
              </a:rPr>
              <a:t>                                   | </a:t>
            </a:r>
            <a:pPr>
              <a:lnSpc>
                <a:spcPct val="100000"/>
              </a:lnSpc>
            </a:pPr>
            <a:r>
              <a:rPr lang="en-US" sz="3000" b="1" dirty="0">
                <a:solidFill>
                  <a:srgbClr val="1A1A1A"/>
                </a:solidFill>
                <a:latin typeface="QuattrocentoSans" pitchFamily="34" charset="0"/>
                <a:ea typeface="QuattrocentoSans" pitchFamily="34" charset="-122"/>
                <a:cs typeface="QuattrocentoSans" pitchFamily="34" charset="-120"/>
              </a:rPr>
              <a:t>Thota Shashan</a:t>
            </a:r>
            <a:pPr>
              <a:lnSpc>
                <a:spcPct val="100000"/>
              </a:lnSpc>
            </a:pPr>
            <a:r>
              <a:rPr lang="en-US" sz="3000" b="1" dirty="0">
                <a:solidFill>
                  <a:srgbClr val="1A1A1A"/>
                </a:solidFill>
                <a:latin typeface="Quattrocento Sans" pitchFamily="34" charset="0"/>
                <a:ea typeface="Quattrocento Sans" pitchFamily="34" charset="-122"/>
                <a:cs typeface="Quattrocento Sans" pitchFamily="34" charset="-120"/>
              </a:rPr>
              <a:t>k -</a:t>
            </a:r>
            <a:pPr>
              <a:lnSpc>
                <a:spcPct val="100000"/>
              </a:lnSpc>
            </a:pPr>
            <a:r>
              <a:rPr lang="en-US" sz="3000" b="1" dirty="0">
                <a:solidFill>
                  <a:srgbClr val="1A1A1A"/>
                </a:solidFill>
                <a:latin typeface="QuattrocentoSans" pitchFamily="34" charset="0"/>
                <a:ea typeface="QuattrocentoSans" pitchFamily="34" charset="-122"/>
                <a:cs typeface="QuattrocentoSans" pitchFamily="34" charset="-120"/>
              </a:rPr>
              <a:t>252U1R1119</a:t>
            </a:r>
            <a:pPr>
              <a:lnSpc>
                <a:spcPct val="100000"/>
              </a:lnSpc>
            </a:pPr>
            <a:r>
              <a:rPr lang="en-US" sz="3000" b="1" dirty="0">
                <a:solidFill>
                  <a:srgbClr val="1A1A1A"/>
                </a:solidFill>
                <a:latin typeface="Quattrocento Sans" pitchFamily="34" charset="0"/>
                <a:ea typeface="Quattrocento Sans" pitchFamily="34" charset="-122"/>
                <a:cs typeface="Quattrocento Sans" pitchFamily="34" charset="-120"/>
              </a:rPr>
              <a:t>Backend Developer    </a:t>
            </a:r>
            <a:endParaRPr lang="en-US" sz="1600" dirty="0"/>
          </a:p>
          <a:p>
            <a:pPr>
              <a:lnSpc>
                <a:spcPct val="100000"/>
              </a:lnSpc>
            </a:pPr>
            <a:r>
              <a:rPr lang="en-US" sz="3000" dirty="0">
                <a:solidFill>
                  <a:srgbClr val="1A1A1A"/>
                </a:solidFill>
                <a:latin typeface="Quattrocento Sans" pitchFamily="34" charset="0"/>
                <a:ea typeface="Quattrocento Sans" pitchFamily="34" charset="-122"/>
                <a:cs typeface="Quattrocento Sans" pitchFamily="34" charset="-120"/>
              </a:rPr>
              <a:t>                                                                 </a:t>
            </a:r>
            <a:pPr>
              <a:lnSpc>
                <a:spcPct val="100000"/>
              </a:lnSpc>
            </a:pPr>
            <a:r>
              <a:rPr lang="en-US" sz="3000" b="1" dirty="0">
                <a:solidFill>
                  <a:srgbClr val="1A1A1A"/>
                </a:solidFill>
                <a:latin typeface="Quattrocento Sans" pitchFamily="34" charset="0"/>
                <a:ea typeface="Quattrocento Sans" pitchFamily="34" charset="-122"/>
                <a:cs typeface="Quattrocento Sans" pitchFamily="34" charset="-120"/>
              </a:rPr>
              <a:t>K</a:t>
            </a:r>
            <a:pPr>
              <a:lnSpc>
                <a:spcPct val="100000"/>
              </a:lnSpc>
            </a:pPr>
            <a:r>
              <a:rPr lang="en-US" sz="3000" b="1" dirty="0">
                <a:solidFill>
                  <a:srgbClr val="1A1A1A"/>
                </a:solidFill>
                <a:latin typeface="QuattrocentoSans" pitchFamily="34" charset="0"/>
                <a:ea typeface="QuattrocentoSans" pitchFamily="34" charset="-122"/>
                <a:cs typeface="QuattrocentoSans" pitchFamily="34" charset="-120"/>
              </a:rPr>
              <a:t>atta Goutham Krishn</a:t>
            </a:r>
            <a:pPr>
              <a:lnSpc>
                <a:spcPct val="100000"/>
              </a:lnSpc>
            </a:pPr>
            <a:r>
              <a:rPr lang="en-US" sz="3000" b="1" dirty="0">
                <a:solidFill>
                  <a:srgbClr val="1A1A1A"/>
                </a:solidFill>
                <a:latin typeface="Quattrocento Sans" pitchFamily="34" charset="0"/>
                <a:ea typeface="Quattrocento Sans" pitchFamily="34" charset="-122"/>
                <a:cs typeface="Quattrocento Sans" pitchFamily="34" charset="-120"/>
              </a:rPr>
              <a:t>a-</a:t>
            </a:r>
            <a:pPr>
              <a:lnSpc>
                <a:spcPct val="100000"/>
              </a:lnSpc>
            </a:pPr>
            <a:r>
              <a:rPr lang="en-US" sz="3000" b="1" dirty="0">
                <a:solidFill>
                  <a:srgbClr val="1A1A1A"/>
                </a:solidFill>
                <a:latin typeface="QuattrocentoSans" pitchFamily="34" charset="0"/>
                <a:ea typeface="QuattrocentoSans" pitchFamily="34" charset="-122"/>
                <a:cs typeface="QuattrocentoSans" pitchFamily="34" charset="-120"/>
              </a:rPr>
              <a:t>252U1R1243</a:t>
            </a:r>
            <a:pPr>
              <a:lnSpc>
                <a:spcPct val="100000"/>
              </a:lnSpc>
            </a:pPr>
            <a:r>
              <a:rPr lang="en-US" sz="3000" b="1" dirty="0">
                <a:solidFill>
                  <a:srgbClr val="1A1A1A"/>
                </a:solidFill>
                <a:latin typeface="Quattrocento Sans" pitchFamily="34" charset="0"/>
                <a:ea typeface="Quattrocento Sans" pitchFamily="34" charset="-122"/>
                <a:cs typeface="Quattrocento Sans" pitchFamily="34" charset="-120"/>
              </a:rPr>
              <a:t>  Testing &amp; Deployment</a:t>
            </a:r>
            <a:endParaRPr lang="en-US" sz="1600" dirty="0"/>
          </a:p>
        </p:txBody>
      </p:sp>
      <p:sp>
        <p:nvSpPr>
          <p:cNvPr id="12" name="Text 9"/>
          <p:cNvSpPr/>
          <p:nvPr/>
        </p:nvSpPr>
        <p:spPr>
          <a:xfrm>
            <a:off x="1270000" y="11176000"/>
            <a:ext cx="21844000" cy="508000"/>
          </a:xfrm>
          <a:prstGeom prst="rect">
            <a:avLst/>
          </a:prstGeom>
          <a:noFill/>
          <a:ln/>
        </p:spPr>
        <p:txBody>
          <a:bodyPr wrap="none" lIns="0" tIns="0" rIns="0" bIns="0" rtlCol="0" anchor="t"/>
          <a:lstStyle/>
          <a:p>
            <a:pPr algn="ctr">
              <a:lnSpc>
                <a:spcPct val="100000"/>
              </a:lnSpc>
            </a:pPr>
            <a:r>
              <a:rPr lang="en-US" sz="3000" dirty="0">
                <a:solidFill>
                  <a:srgbClr val="1A1A1A"/>
                </a:solidFill>
                <a:latin typeface="Quattrocento Sans" pitchFamily="34" charset="0"/>
                <a:ea typeface="Quattrocento Sans" pitchFamily="34" charset="-122"/>
                <a:cs typeface="Quattrocento Sans" pitchFamily="34" charset="-120"/>
              </a:rPr>
              <a:t>06 June 2026</a:t>
            </a:r>
            <a:endParaRPr lang="en-US" sz="1600" dirty="0"/>
          </a:p>
        </p:txBody>
      </p:sp>
      <p:sp>
        <p:nvSpPr>
          <p:cNvPr id="13" name="Text 10"/>
          <p:cNvSpPr/>
          <p:nvPr/>
        </p:nvSpPr>
        <p:spPr>
          <a:xfrm>
            <a:off x="1270000" y="11811000"/>
            <a:ext cx="21844000" cy="508000"/>
          </a:xfrm>
          <a:prstGeom prst="rect">
            <a:avLst/>
          </a:prstGeom>
          <a:noFill/>
          <a:ln/>
        </p:spPr>
        <p:txBody>
          <a:bodyPr wrap="none" lIns="0" tIns="0" rIns="0" bIns="0" rtlCol="0" anchor="t"/>
          <a:lstStyle/>
          <a:p>
            <a:pPr algn="ctr">
              <a:lnSpc>
                <a:spcPct val="100000"/>
              </a:lnSpc>
            </a:pPr>
            <a:r>
              <a:rPr lang="en-US" sz="2000" dirty="0">
                <a:solidFill>
                  <a:srgbClr val="10B981"/>
                </a:solidFill>
                <a:latin typeface="Quattrocento Sans" pitchFamily="34" charset="0"/>
                <a:ea typeface="Quattrocento Sans" pitchFamily="34" charset="-122"/>
                <a:cs typeface="Quattrocento Sans" pitchFamily="34" charset="-120"/>
              </a:rPr>
              <a:t>Internship Batch 2026</a:t>
            </a:r>
            <a:endParaRPr lang="en-US" sz="1600" dirty="0"/>
          </a:p>
        </p:txBody>
      </p:sp>
      <p:sp>
        <p:nvSpPr>
          <p:cNvPr id="14" name="Text 11"/>
          <p:cNvSpPr/>
          <p:nvPr/>
        </p:nvSpPr>
        <p:spPr>
          <a:xfrm rot="5400000">
            <a:off x="1460500" y="11112500"/>
            <a:ext cx="508000" cy="446278"/>
          </a:xfrm>
          <a:prstGeom prst="rect">
            <a:avLst/>
          </a:prstGeom>
          <a:noFill/>
          <a:ln/>
        </p:spPr>
        <p:txBody>
          <a:bodyPr wrap="none" lIns="0" tIns="0" rIns="0" bIns="0" rtlCol="0" anchor="t"/>
          <a:lstStyle/>
          <a:p>
            <a:pPr>
              <a:lnSpc>
                <a:spcPct val="100000"/>
              </a:lnSpc>
            </a:pPr>
            <a:r>
              <a:rPr lang="en-US" sz="2000" spc="100" kern="0" dirty="0">
                <a:solidFill>
                  <a:srgbClr val="10B981"/>
                </a:solidFill>
                <a:latin typeface="Quattrocento Sans" pitchFamily="34" charset="0"/>
                <a:ea typeface="Quattrocento Sans" pitchFamily="34" charset="-122"/>
                <a:cs typeface="Quattrocento Sans" pitchFamily="34" charset="-120"/>
              </a:rPr>
              <a:t>GM </a:t>
            </a:r>
            <a:endParaRPr lang="en-US" sz="1600" dirty="0"/>
          </a:p>
        </p:txBody>
      </p:sp>
      <p:pic>
        <p:nvPicPr>
          <p:cNvPr id="15" name="Image 0" descr="https://kimi-img.moonshot.cn/pub/slides/26-06-06-01:37:02-d8hgifg52ceh3s13q8p0.jpg">    </p:cNvPr>
          <p:cNvPicPr>
            <a:picLocks noChangeAspect="1"/>
          </p:cNvPicPr>
          <p:nvPr/>
        </p:nvPicPr>
        <p:blipFill>
          <a:blip r:embed="rId1"/>
          <a:stretch>
            <a:fillRect/>
          </a:stretch>
        </p:blipFill>
        <p:spPr>
          <a:xfrm>
            <a:off x="9803775" y="412067"/>
            <a:ext cx="4294583" cy="4294583"/>
          </a:xfrm>
          <a:prstGeom prst="rect">
            <a:avLst/>
          </a:prstGeom>
        </p:spPr>
      </p:pic>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Shape 0"/>
          <p:cNvSpPr/>
          <p:nvPr/>
        </p:nvSpPr>
        <p:spPr>
          <a:xfrm>
            <a:off x="19685000" y="7620000"/>
            <a:ext cx="3810000" cy="3810000"/>
          </a:xfrm>
          <a:prstGeom prst="ellipse">
            <a:avLst/>
          </a:prstGeom>
          <a:solidFill>
            <a:srgbClr val="10B981">
              <a:alpha val="6275"/>
            </a:srgbClr>
          </a:solidFill>
          <a:ln/>
        </p:spPr>
      </p:sp>
      <p:sp>
        <p:nvSpPr>
          <p:cNvPr id="4" name="Shape 1"/>
          <p:cNvSpPr/>
          <p:nvPr/>
        </p:nvSpPr>
        <p:spPr>
          <a:xfrm>
            <a:off x="1485900" y="5080000"/>
            <a:ext cx="11049000" cy="25400"/>
          </a:xfrm>
          <a:prstGeom prst="rect">
            <a:avLst/>
          </a:prstGeom>
          <a:solidFill>
            <a:srgbClr val="10B981">
              <a:alpha val="18824"/>
            </a:srgbClr>
          </a:solidFill>
          <a:ln/>
        </p:spPr>
      </p:sp>
      <p:sp>
        <p:nvSpPr>
          <p:cNvPr id="5" name="Shape 2"/>
          <p:cNvSpPr/>
          <p:nvPr/>
        </p:nvSpPr>
        <p:spPr>
          <a:xfrm>
            <a:off x="19405600" y="11709400"/>
            <a:ext cx="3594100" cy="787400"/>
          </a:xfrm>
          <a:prstGeom prst="rect">
            <a:avLst/>
          </a:prstGeom>
          <a:solidFill>
            <a:srgbClr val="FFFFFF"/>
          </a:solidFill>
          <a:ln/>
        </p:spPr>
      </p:sp>
      <p:sp>
        <p:nvSpPr>
          <p:cNvPr id="6" name="Text 3"/>
          <p:cNvSpPr/>
          <p:nvPr/>
        </p:nvSpPr>
        <p:spPr>
          <a:xfrm>
            <a:off x="19342100" y="11869420"/>
            <a:ext cx="3683000" cy="446278"/>
          </a:xfrm>
          <a:prstGeom prst="rect">
            <a:avLst/>
          </a:prstGeom>
          <a:noFill/>
          <a:ln/>
        </p:spPr>
        <p:txBody>
          <a:bodyPr wrap="none" lIns="0" tIns="0" rIns="0" bIns="0" rtlCol="0" anchor="t"/>
          <a:lstStyle/>
          <a:p>
            <a:pPr algn="r">
              <a:lnSpc>
                <a:spcPct val="100000"/>
              </a:lnSpc>
            </a:pPr>
            <a:r>
              <a:rPr lang="en-US" sz="2000" spc="100" kern="0" dirty="0">
                <a:solidFill>
                  <a:srgbClr val="10B981"/>
                </a:solidFill>
                <a:latin typeface="Quattrocento Sans" pitchFamily="34" charset="0"/>
                <a:ea typeface="Quattrocento Sans" pitchFamily="34" charset="-122"/>
                <a:cs typeface="Quattrocento Sans" pitchFamily="34" charset="-120"/>
              </a:rPr>
              <a:t>GANGA MAXX INTERNSHIP</a:t>
            </a:r>
            <a:endParaRPr lang="en-US" sz="1600" dirty="0"/>
          </a:p>
        </p:txBody>
      </p:sp>
      <p:pic>
        <p:nvPicPr>
          <p:cNvPr id="7" name="Image 0" descr="https://kimi-img.moonshot.cn/pub/slides/okc/phgd7yq34ljws/mnt/agents/output/ganga_maxx_review1/images/1_B2B_Transport_Service_Complete_Guide.png">    </p:cNvPr>
          <p:cNvPicPr>
            <a:picLocks noChangeAspect="1"/>
          </p:cNvPicPr>
          <p:nvPr/>
        </p:nvPicPr>
        <p:blipFill>
          <a:blip r:embed="rId1"/>
          <a:srcRect l="17801" r="17801" t="0" b="0"/>
          <a:stretch/>
        </p:blipFill>
        <p:spPr>
          <a:xfrm>
            <a:off x="15096363" y="1570355"/>
            <a:ext cx="7673594" cy="5089017"/>
          </a:xfrm>
          <a:prstGeom prst="rect">
            <a:avLst/>
          </a:prstGeom>
        </p:spPr>
      </p:pic>
      <p:sp>
        <p:nvSpPr>
          <p:cNvPr id="8" name="Text 4"/>
          <p:cNvSpPr/>
          <p:nvPr/>
        </p:nvSpPr>
        <p:spPr>
          <a:xfrm>
            <a:off x="1491996" y="1471295"/>
            <a:ext cx="11010773" cy="1678813"/>
          </a:xfrm>
          <a:prstGeom prst="rect">
            <a:avLst/>
          </a:prstGeom>
          <a:noFill/>
          <a:ln/>
        </p:spPr>
        <p:txBody>
          <a:bodyPr wrap="square" lIns="0" tIns="0" rIns="0" bIns="0" rtlCol="0" anchor="t"/>
          <a:lstStyle/>
          <a:p>
            <a:pPr>
              <a:lnSpc>
                <a:spcPct val="100000"/>
              </a:lnSpc>
            </a:pPr>
            <a:r>
              <a:rPr lang="en-US" sz="8000" dirty="0">
                <a:solidFill>
                  <a:srgbClr val="1A1A1A"/>
                </a:solidFill>
                <a:latin typeface="Liter" pitchFamily="34" charset="0"/>
                <a:ea typeface="Liter" pitchFamily="34" charset="-122"/>
                <a:cs typeface="Liter" pitchFamily="34" charset="-120"/>
              </a:rPr>
              <a:t>About the Company</a:t>
            </a:r>
            <a:endParaRPr lang="en-US" sz="1600" dirty="0"/>
          </a:p>
        </p:txBody>
      </p:sp>
      <p:sp>
        <p:nvSpPr>
          <p:cNvPr id="9" name="Text 5"/>
          <p:cNvSpPr/>
          <p:nvPr/>
        </p:nvSpPr>
        <p:spPr>
          <a:xfrm>
            <a:off x="1491996" y="11265566"/>
            <a:ext cx="11010773" cy="874471"/>
          </a:xfrm>
          <a:prstGeom prst="rect">
            <a:avLst/>
          </a:prstGeom>
          <a:noFill/>
          <a:ln/>
        </p:spPr>
        <p:txBody>
          <a:bodyPr wrap="square" lIns="0" tIns="0" rIns="0" bIns="0" rtlCol="0" anchor="t"/>
          <a:lstStyle/>
          <a:p>
            <a:pPr>
              <a:lnSpc>
                <a:spcPct val="100000"/>
              </a:lnSpc>
            </a:pPr>
            <a:r>
              <a:rPr lang="en-US" sz="3300" dirty="0">
                <a:solidFill>
                  <a:srgbClr val="10B981"/>
                </a:solidFill>
                <a:latin typeface="Liter" pitchFamily="34" charset="0"/>
                <a:ea typeface="Liter" pitchFamily="34" charset="-122"/>
                <a:cs typeface="Liter" pitchFamily="34" charset="-120"/>
              </a:rPr>
              <a:t>Ganga Maxx Marketplace</a:t>
            </a:r>
            <a:endParaRPr lang="en-US" sz="1600" dirty="0"/>
          </a:p>
        </p:txBody>
      </p:sp>
      <p:sp>
        <p:nvSpPr>
          <p:cNvPr id="10" name="Text 6"/>
          <p:cNvSpPr/>
          <p:nvPr/>
        </p:nvSpPr>
        <p:spPr>
          <a:xfrm>
            <a:off x="1416360" y="3579332"/>
            <a:ext cx="12851247" cy="7331387"/>
          </a:xfrm>
          <a:prstGeom prst="rect">
            <a:avLst/>
          </a:prstGeom>
          <a:noFill/>
          <a:ln/>
        </p:spPr>
        <p:txBody>
          <a:bodyPr wrap="square" lIns="0" tIns="0" rIns="0" bIns="0" rtlCol="0" anchor="t"/>
          <a:lstStyle/>
          <a:p>
            <a:pPr>
              <a:lnSpc>
                <a:spcPct val="100000"/>
              </a:lnSpc>
            </a:pPr>
            <a:r>
              <a:rPr lang="en-US" sz="3200" b="1" dirty="0">
                <a:solidFill>
                  <a:srgbClr val="1A1A1A"/>
                </a:solidFill>
                <a:latin typeface="Quattrocento Sans" pitchFamily="34" charset="0"/>
                <a:ea typeface="Quattrocento Sans" pitchFamily="34" charset="-122"/>
                <a:cs typeface="Quattrocento Sans" pitchFamily="34" charset="-120"/>
              </a:rPr>
              <a:t>Ganga Maxx Marketplace</a:t>
            </a:r>
            <a:pPr>
              <a:lnSpc>
                <a:spcPct val="100000"/>
              </a:lnSpc>
            </a:pPr>
            <a:r>
              <a:rPr lang="en-US" sz="3200" dirty="0">
                <a:solidFill>
                  <a:srgbClr val="1A1A1A"/>
                </a:solidFill>
                <a:latin typeface="Quattrocento Sans" pitchFamily="34" charset="0"/>
                <a:ea typeface="Quattrocento Sans" pitchFamily="34" charset="-122"/>
                <a:cs typeface="Quattrocento Sans" pitchFamily="34" charset="-120"/>
              </a:rPr>
              <a:t> is a B2B platform specialising in cleaning and hygiene product sales to institutional customers.</a:t>
            </a:r>
            <a:endParaRPr lang="en-US" sz="1600" dirty="0"/>
          </a:p>
          <a:p>
            <a:pPr>
              <a:lnSpc>
                <a:spcPct val="100000"/>
              </a:lnSpc>
            </a:pPr>
            <a:r>
              <a:rPr lang="en-US" sz="3200" b="1" dirty="0">
                <a:solidFill>
                  <a:srgbClr val="1A1A1A"/>
                </a:solidFill>
                <a:latin typeface="Quattrocento Sans" pitchFamily="34" charset="0"/>
                <a:ea typeface="Quattrocento Sans" pitchFamily="34" charset="-122"/>
                <a:cs typeface="Quattrocento Sans" pitchFamily="34" charset="-120"/>
              </a:rPr>
              <a:t>Key business operations:</a:t>
            </a:r>
            <a:endParaRPr lang="en-US" sz="1600" dirty="0"/>
          </a:p>
          <a:p>
            <a:pPr marL="254000" indent="-254000">
              <a:lnSpc>
                <a:spcPct val="100000"/>
              </a:lnSpc>
              <a:spcBef>
                <a:spcPts val="10"/>
              </a:spcBef>
              <a:buSzPct val="100000"/>
              <a:buChar char="•"/>
            </a:pPr>
            <a:r>
              <a:rPr lang="en-US" sz="3200" dirty="0">
                <a:solidFill>
                  <a:srgbClr val="1A1A1A"/>
                </a:solidFill>
                <a:latin typeface="Quattrocento Sans" pitchFamily="34" charset="0"/>
                <a:ea typeface="Quattrocento Sans" pitchFamily="34" charset="-122"/>
                <a:cs typeface="Quattrocento Sans" pitchFamily="34" charset="-120"/>
              </a:rPr>
              <a:t>Institutional ordering and contract pricing</a:t>
            </a:r>
            <a:endParaRPr lang="en-US" sz="1600" dirty="0"/>
          </a:p>
          <a:p>
            <a:pPr marL="254000" indent="-254000">
              <a:lnSpc>
                <a:spcPct val="100000"/>
              </a:lnSpc>
              <a:spcBef>
                <a:spcPts val="10"/>
              </a:spcBef>
              <a:buSzPct val="100000"/>
              <a:buChar char="•"/>
            </a:pPr>
            <a:r>
              <a:rPr lang="en-US" sz="3200" dirty="0">
                <a:solidFill>
                  <a:srgbClr val="1A1A1A"/>
                </a:solidFill>
                <a:latin typeface="Quattrocento Sans" pitchFamily="34" charset="0"/>
                <a:ea typeface="Quattrocento Sans" pitchFamily="34" charset="-122"/>
                <a:cs typeface="Quattrocento Sans" pitchFamily="34" charset="-120"/>
              </a:rPr>
              <a:t>Warehouse stock control and SKU management</a:t>
            </a:r>
            <a:endParaRPr lang="en-US" sz="1600" dirty="0"/>
          </a:p>
          <a:p>
            <a:pPr marL="254000" indent="-254000">
              <a:lnSpc>
                <a:spcPct val="100000"/>
              </a:lnSpc>
              <a:spcBef>
                <a:spcPts val="10"/>
              </a:spcBef>
              <a:buSzPct val="100000"/>
              <a:buChar char="•"/>
            </a:pPr>
            <a:r>
              <a:rPr lang="en-US" sz="3200" dirty="0">
                <a:solidFill>
                  <a:srgbClr val="1A1A1A"/>
                </a:solidFill>
                <a:latin typeface="Quattrocento Sans" pitchFamily="34" charset="0"/>
                <a:ea typeface="Quattrocento Sans" pitchFamily="34" charset="-122"/>
                <a:cs typeface="Quattrocento Sans" pitchFamily="34" charset="-120"/>
              </a:rPr>
              <a:t>Credit account management for bulk buyers</a:t>
            </a:r>
            <a:endParaRPr lang="en-US" sz="1600" dirty="0"/>
          </a:p>
          <a:p>
            <a:pPr marL="254000" indent="-254000">
              <a:lnSpc>
                <a:spcPct val="100000"/>
              </a:lnSpc>
              <a:spcBef>
                <a:spcPts val="10"/>
              </a:spcBef>
              <a:buSzPct val="100000"/>
              <a:buChar char="•"/>
            </a:pPr>
            <a:r>
              <a:rPr lang="en-US" sz="3200" dirty="0">
                <a:solidFill>
                  <a:srgbClr val="1A1A1A"/>
                </a:solidFill>
                <a:latin typeface="Quattrocento Sans" pitchFamily="34" charset="0"/>
                <a:ea typeface="Quattrocento Sans" pitchFamily="34" charset="-122"/>
                <a:cs typeface="Quattrocento Sans" pitchFamily="34" charset="-120"/>
              </a:rPr>
              <a:t>Delivery tracking across multi-stop routes</a:t>
            </a:r>
            <a:endParaRPr lang="en-US" sz="1600" dirty="0"/>
          </a:p>
          <a:p>
            <a:pPr marL="254000" indent="-254000">
              <a:lnSpc>
                <a:spcPct val="100000"/>
              </a:lnSpc>
              <a:spcBef>
                <a:spcPts val="10"/>
              </a:spcBef>
              <a:buSzPct val="100000"/>
              <a:buChar char="•"/>
            </a:pPr>
            <a:r>
              <a:rPr lang="en-US" sz="3200" dirty="0">
                <a:solidFill>
                  <a:srgbClr val="1A1A1A"/>
                </a:solidFill>
                <a:latin typeface="Quattrocento Sans" pitchFamily="34" charset="0"/>
                <a:ea typeface="Quattrocento Sans" pitchFamily="34" charset="-122"/>
                <a:cs typeface="Quattrocento Sans" pitchFamily="34" charset="-120"/>
              </a:rPr>
              <a:t>Chemical handling compliance documentation</a:t>
            </a:r>
            <a:endParaRPr lang="en-US" sz="1600" dirty="0"/>
          </a:p>
          <a:p>
            <a:pPr>
              <a:lnSpc>
                <a:spcPct val="100000"/>
              </a:lnSpc>
            </a:pPr>
            <a:r>
              <a:rPr lang="en-US" sz="3200" b="1" dirty="0">
                <a:solidFill>
                  <a:srgbClr val="1A1A1A"/>
                </a:solidFill>
                <a:latin typeface="Quattrocento Sans" pitchFamily="34" charset="0"/>
                <a:ea typeface="Quattrocento Sans" pitchFamily="34" charset="-122"/>
                <a:cs typeface="Quattrocento Sans" pitchFamily="34" charset="-120"/>
              </a:rPr>
              <a:t>Customers served:</a:t>
            </a:r>
            <a:pPr>
              <a:lnSpc>
                <a:spcPct val="100000"/>
              </a:lnSpc>
            </a:pPr>
            <a:r>
              <a:rPr lang="en-US" sz="3200" dirty="0">
                <a:solidFill>
                  <a:srgbClr val="1A1A1A"/>
                </a:solidFill>
                <a:latin typeface="Quattrocento Sans" pitchFamily="34" charset="0"/>
                <a:ea typeface="Quattrocento Sans" pitchFamily="34" charset="-122"/>
                <a:cs typeface="Quattrocento Sans" pitchFamily="34" charset="-120"/>
              </a:rPr>
              <a:t> Schools, hospitals, hotels, and dealers across the region.</a:t>
            </a:r>
            <a:endParaRPr lang="en-US" sz="1600" dirty="0"/>
          </a:p>
          <a:p>
            <a:pPr>
              <a:lnSpc>
                <a:spcPct val="100000"/>
              </a:lnSpc>
            </a:pPr>
            <a:r>
              <a:rPr lang="en-US" sz="3200" b="1" dirty="0">
                <a:solidFill>
                  <a:srgbClr val="1A1A1A"/>
                </a:solidFill>
                <a:latin typeface="Quattrocento Sans" pitchFamily="34" charset="0"/>
                <a:ea typeface="Quattrocento Sans" pitchFamily="34" charset="-122"/>
                <a:cs typeface="Quattrocento Sans" pitchFamily="34" charset="-120"/>
              </a:rPr>
              <a:t>Why digital:</a:t>
            </a:r>
            <a:pPr>
              <a:lnSpc>
                <a:spcPct val="100000"/>
              </a:lnSpc>
            </a:pPr>
            <a:r>
              <a:rPr lang="en-US" sz="3200" dirty="0">
                <a:solidFill>
                  <a:srgbClr val="1A1A1A"/>
                </a:solidFill>
                <a:latin typeface="Quattrocento Sans" pitchFamily="34" charset="0"/>
                <a:ea typeface="Quattrocento Sans" pitchFamily="34" charset="-122"/>
                <a:cs typeface="Quattrocento Sans" pitchFamily="34" charset="-120"/>
              </a:rPr>
              <a:t> Manual processes cannot scale with high-volume daily deliveries to multiple institutions</a:t>
            </a:r>
            <a:pPr>
              <a:lnSpc>
                <a:spcPct val="100000"/>
              </a:lnSpc>
            </a:pPr>
            <a:r>
              <a:rPr lang="en-US" sz="3400" b="1" dirty="0">
                <a:solidFill>
                  <a:srgbClr val="1A1A1A"/>
                </a:solidFill>
                <a:latin typeface="Quattrocento Sans" pitchFamily="34" charset="0"/>
                <a:ea typeface="Quattrocento Sans" pitchFamily="34" charset="-122"/>
                <a:cs typeface="Quattrocento Sans" pitchFamily="34" charset="-120"/>
              </a:rPr>
              <a:t>.</a:t>
            </a:r>
            <a:endParaRPr lang="en-US" sz="1600" dirty="0"/>
          </a:p>
        </p:txBody>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Shape 0"/>
          <p:cNvSpPr/>
          <p:nvPr/>
        </p:nvSpPr>
        <p:spPr>
          <a:xfrm>
            <a:off x="20320000" y="1270000"/>
            <a:ext cx="3175000" cy="3175000"/>
          </a:xfrm>
          <a:prstGeom prst="ellipse">
            <a:avLst/>
          </a:prstGeom>
          <a:solidFill>
            <a:srgbClr val="10B981">
              <a:alpha val="6275"/>
            </a:srgbClr>
          </a:solidFill>
          <a:ln/>
        </p:spPr>
      </p:sp>
      <p:sp>
        <p:nvSpPr>
          <p:cNvPr id="4" name="Shape 1"/>
          <p:cNvSpPr/>
          <p:nvPr/>
        </p:nvSpPr>
        <p:spPr>
          <a:xfrm>
            <a:off x="9398000" y="5461000"/>
            <a:ext cx="25400" cy="6985000"/>
          </a:xfrm>
          <a:prstGeom prst="rect">
            <a:avLst/>
          </a:prstGeom>
          <a:solidFill>
            <a:srgbClr val="10B981">
              <a:alpha val="14510"/>
            </a:srgbClr>
          </a:solidFill>
          <a:ln/>
        </p:spPr>
      </p:sp>
      <p:sp>
        <p:nvSpPr>
          <p:cNvPr id="5" name="Shape 2"/>
          <p:cNvSpPr/>
          <p:nvPr/>
        </p:nvSpPr>
        <p:spPr>
          <a:xfrm>
            <a:off x="19334821" y="635000"/>
            <a:ext cx="4318000" cy="635000"/>
          </a:xfrm>
          <a:prstGeom prst="rect">
            <a:avLst/>
          </a:prstGeom>
          <a:solidFill>
            <a:srgbClr val="FFFFFF"/>
          </a:solidFill>
          <a:ln/>
        </p:spPr>
      </p:sp>
      <p:sp>
        <p:nvSpPr>
          <p:cNvPr id="6" name="Text 3"/>
          <p:cNvSpPr/>
          <p:nvPr/>
        </p:nvSpPr>
        <p:spPr>
          <a:xfrm>
            <a:off x="1079500" y="11948414"/>
            <a:ext cx="3810000" cy="446278"/>
          </a:xfrm>
          <a:prstGeom prst="rect">
            <a:avLst/>
          </a:prstGeom>
          <a:noFill/>
          <a:ln/>
        </p:spPr>
        <p:txBody>
          <a:bodyPr wrap="none" lIns="0" tIns="0" rIns="0" bIns="0" rtlCol="0" anchor="t"/>
          <a:lstStyle/>
          <a:p>
            <a:pPr>
              <a:lnSpc>
                <a:spcPct val="100000"/>
              </a:lnSpc>
            </a:pPr>
            <a:r>
              <a:rPr lang="en-US" sz="2000" spc="100" kern="0" dirty="0">
                <a:solidFill>
                  <a:srgbClr val="10B981"/>
                </a:solidFill>
                <a:latin typeface="Quattrocento Sans" pitchFamily="34" charset="0"/>
                <a:ea typeface="Quattrocento Sans" pitchFamily="34" charset="-122"/>
                <a:cs typeface="Quattrocento Sans" pitchFamily="34" charset="-120"/>
              </a:rPr>
              <a:t>GANGA MAXX</a:t>
            </a:r>
            <a:endParaRPr lang="en-US" sz="1600" dirty="0"/>
          </a:p>
        </p:txBody>
      </p:sp>
      <p:sp>
        <p:nvSpPr>
          <p:cNvPr id="7" name="Text 4"/>
          <p:cNvSpPr/>
          <p:nvPr/>
        </p:nvSpPr>
        <p:spPr>
          <a:xfrm>
            <a:off x="1249680" y="1272540"/>
            <a:ext cx="12403836" cy="1678813"/>
          </a:xfrm>
          <a:prstGeom prst="rect">
            <a:avLst/>
          </a:prstGeom>
          <a:noFill/>
          <a:ln/>
        </p:spPr>
        <p:txBody>
          <a:bodyPr wrap="square" lIns="0" tIns="0" rIns="0" bIns="0" rtlCol="0" anchor="t"/>
          <a:lstStyle/>
          <a:p>
            <a:pPr>
              <a:lnSpc>
                <a:spcPct val="100000"/>
              </a:lnSpc>
            </a:pPr>
            <a:r>
              <a:rPr lang="en-US" sz="4700" b="1" dirty="0">
                <a:solidFill>
                  <a:srgbClr val="1A1A2E"/>
                </a:solidFill>
                <a:latin typeface="Playfair Display, serif" pitchFamily="34" charset="0"/>
                <a:ea typeface="Playfair Display, serif" pitchFamily="34" charset="-122"/>
                <a:cs typeface="Playfair Display, serif" pitchFamily="34" charset="-120"/>
              </a:rPr>
              <a:t>Project Domain &amp; Technology Overview</a:t>
            </a:r>
            <a:endParaRPr lang="en-US" sz="1600" dirty="0"/>
          </a:p>
        </p:txBody>
      </p:sp>
      <p:sp>
        <p:nvSpPr>
          <p:cNvPr id="8" name="Text 5"/>
          <p:cNvSpPr/>
          <p:nvPr/>
        </p:nvSpPr>
        <p:spPr>
          <a:xfrm>
            <a:off x="1249680" y="3175000"/>
            <a:ext cx="7620000" cy="635000"/>
          </a:xfrm>
          <a:prstGeom prst="rect">
            <a:avLst/>
          </a:prstGeom>
          <a:noFill/>
          <a:ln/>
        </p:spPr>
        <p:txBody>
          <a:bodyPr wrap="none" lIns="0" tIns="0" rIns="0" bIns="0" rtlCol="0" anchor="t"/>
          <a:lstStyle/>
          <a:p>
            <a:pPr>
              <a:lnSpc>
                <a:spcPct val="100000"/>
              </a:lnSpc>
            </a:pPr>
            <a:r>
              <a:rPr lang="en-US" sz="3300" dirty="0">
                <a:solidFill>
                  <a:srgbClr val="10B981"/>
                </a:solidFill>
                <a:latin typeface="Liter" pitchFamily="34" charset="0"/>
                <a:ea typeface="Liter" pitchFamily="34" charset="-122"/>
                <a:cs typeface="Liter" pitchFamily="34" charset="-120"/>
              </a:rPr>
              <a:t>Operations / Delivery Management</a:t>
            </a:r>
            <a:endParaRPr lang="en-US" sz="1600" dirty="0"/>
          </a:p>
        </p:txBody>
      </p:sp>
      <p:sp>
        <p:nvSpPr>
          <p:cNvPr id="9" name="Text 6"/>
          <p:cNvSpPr/>
          <p:nvPr/>
        </p:nvSpPr>
        <p:spPr>
          <a:xfrm>
            <a:off x="17207865" y="1234440"/>
            <a:ext cx="3055747" cy="2618867"/>
          </a:xfrm>
          <a:prstGeom prst="rect">
            <a:avLst/>
          </a:prstGeom>
          <a:noFill/>
          <a:ln/>
        </p:spPr>
        <p:txBody>
          <a:bodyPr wrap="none" lIns="0" tIns="0" rIns="0" bIns="0" rtlCol="0" anchor="t"/>
          <a:lstStyle/>
          <a:p>
            <a:pPr algn="r">
              <a:lnSpc>
                <a:spcPct val="100000"/>
              </a:lnSpc>
            </a:pPr>
            <a:r>
              <a:rPr lang="en-US" sz="16000" dirty="0">
                <a:solidFill>
                  <a:srgbClr val="10B981"/>
                </a:solidFill>
                <a:latin typeface="Liter" pitchFamily="34" charset="0"/>
                <a:ea typeface="Liter" pitchFamily="34" charset="-122"/>
                <a:cs typeface="Liter" pitchFamily="34" charset="-120"/>
              </a:rPr>
              <a:t>03</a:t>
            </a:r>
            <a:endParaRPr lang="en-US" sz="1600" dirty="0"/>
          </a:p>
        </p:txBody>
      </p:sp>
      <p:sp>
        <p:nvSpPr>
          <p:cNvPr id="10" name="Text 7"/>
          <p:cNvSpPr/>
          <p:nvPr/>
        </p:nvSpPr>
        <p:spPr>
          <a:xfrm rot="-5400000">
            <a:off x="20701000" y="10445369"/>
            <a:ext cx="3429000" cy="446278"/>
          </a:xfrm>
          <a:prstGeom prst="rect">
            <a:avLst/>
          </a:prstGeom>
          <a:noFill/>
          <a:ln/>
        </p:spPr>
        <p:txBody>
          <a:bodyPr wrap="none" lIns="0" tIns="0" rIns="0" bIns="0" rtlCol="0" anchor="t"/>
          <a:lstStyle/>
          <a:p>
            <a:pPr>
              <a:lnSpc>
                <a:spcPct val="100000"/>
              </a:lnSpc>
            </a:pPr>
            <a:r>
              <a:rPr lang="en-US" sz="2000" spc="100" kern="0" dirty="0">
                <a:solidFill>
                  <a:srgbClr val="10B981"/>
                </a:solidFill>
                <a:latin typeface="Quattrocento Sans" pitchFamily="34" charset="0"/>
                <a:ea typeface="Quattrocento Sans" pitchFamily="34" charset="-122"/>
                <a:cs typeface="Quattrocento Sans" pitchFamily="34" charset="-120"/>
              </a:rPr>
              <a:t>GANGA MAXX</a:t>
            </a:r>
            <a:endParaRPr lang="en-US" sz="1600" dirty="0"/>
          </a:p>
        </p:txBody>
      </p:sp>
      <p:sp>
        <p:nvSpPr>
          <p:cNvPr id="11" name="Text 8"/>
          <p:cNvSpPr/>
          <p:nvPr/>
        </p:nvSpPr>
        <p:spPr>
          <a:xfrm>
            <a:off x="868319" y="4065104"/>
            <a:ext cx="21197357" cy="8942782"/>
          </a:xfrm>
          <a:prstGeom prst="rect">
            <a:avLst/>
          </a:prstGeom>
          <a:noFill/>
          <a:ln/>
        </p:spPr>
        <p:txBody>
          <a:bodyPr wrap="square" lIns="91440" tIns="45720" rIns="91440" bIns="45720" rtlCol="0" anchor="t"/>
          <a:lstStyle/>
          <a:p>
            <a:pPr>
              <a:lnSpc>
                <a:spcPct val="100000"/>
              </a:lnSpc>
            </a:pPr>
            <a:r>
              <a:rPr lang="en-US" sz="2200" dirty="0">
                <a:solidFill>
                  <a:srgbClr val="333333"/>
                </a:solidFill>
                <a:latin typeface="微软雅黑" pitchFamily="34" charset="0"/>
                <a:ea typeface="微软雅黑" pitchFamily="34" charset="-122"/>
                <a:cs typeface="微软雅黑" pitchFamily="34" charset="-120"/>
              </a:rPr>
              <a:t> </a:t>
            </a:r>
            <a:pPr>
              <a:lnSpc>
                <a:spcPct val="100000"/>
              </a:lnSpc>
            </a:pPr>
            <a:r>
              <a:rPr lang="en-US" sz="2400" b="1" dirty="0">
                <a:solidFill>
                  <a:srgbClr val="0284C7"/>
                </a:solidFill>
                <a:latin typeface="Inter, sans-serif" pitchFamily="34" charset="0"/>
                <a:ea typeface="Inter, sans-serif" pitchFamily="34" charset="-122"/>
                <a:cs typeface="Inter, sans-serif" pitchFamily="34" charset="-120"/>
              </a:rPr>
              <a:t>Architecture</a:t>
            </a:r>
            <a:endParaRPr lang="en-US" sz="1600" dirty="0"/>
          </a:p>
          <a:p>
            <a:pPr>
              <a:lnSpc>
                <a:spcPct val="100000"/>
              </a:lnSpc>
            </a:pPr>
            <a:r>
              <a:rPr lang="en-US" sz="2400" b="1" dirty="0">
                <a:solidFill>
                  <a:srgbClr val="0F172A"/>
                </a:solidFill>
                <a:latin typeface="Plus Jakarta Sans, Inter, sans-serif" pitchFamily="34" charset="0"/>
                <a:ea typeface="Plus Jakarta Sans, Inter, sans-serif" pitchFamily="34" charset="-122"/>
                <a:cs typeface="Plus Jakarta Sans, Inter, sans-serif" pitchFamily="34" charset="-120"/>
              </a:rPr>
              <a:t>Technology Stack &amp; Architecture</a:t>
            </a:r>
            <a:endParaRPr lang="en-US" sz="1600" dirty="0"/>
          </a:p>
          <a:p>
            <a:pPr>
              <a:lnSpc>
                <a:spcPct val="100000"/>
              </a:lnSpc>
            </a:pPr>
            <a:r>
              <a:rPr lang="en-US" sz="2400" b="1" dirty="0">
                <a:solidFill>
                  <a:srgbClr val="3B82F6"/>
                </a:solidFill>
                <a:highlight>
                  <a:srgbClr val="FFFFFF">
                    <a:alpha val="100000"/>
                  </a:srgbClr>
                </a:highlight>
                <a:latin typeface="Inter, sans-serif" pitchFamily="34" charset="0"/>
                <a:ea typeface="Inter, sans-serif" pitchFamily="34" charset="-122"/>
                <a:cs typeface="Inter, sans-serif" pitchFamily="34" charset="-120"/>
              </a:rPr>
              <a:t>01 / Presentation</a:t>
            </a:r>
            <a:endParaRPr lang="en-US" sz="1600" dirty="0"/>
          </a:p>
          <a:p>
            <a:pPr>
              <a:lnSpc>
                <a:spcPct val="100000"/>
              </a:lnSpc>
            </a:pPr>
            <a:r>
              <a:rPr lang="en-US" sz="2400" b="1" dirty="0">
                <a:solidFill>
                  <a:srgbClr val="0F172A"/>
                </a:solidFill>
                <a:highlight>
                  <a:srgbClr val="FFFFFF">
                    <a:alpha val="100000"/>
                  </a:srgbClr>
                </a:highlight>
                <a:latin typeface="Inter, sans-serif" pitchFamily="34" charset="0"/>
                <a:ea typeface="Inter, sans-serif" pitchFamily="34" charset="-122"/>
                <a:cs typeface="Inter, sans-serif" pitchFamily="34" charset="-120"/>
              </a:rPr>
              <a:t>Frontend</a:t>
            </a:r>
            <a:endParaRPr lang="en-US" sz="1600" dirty="0"/>
          </a:p>
          <a:p>
            <a:pPr>
              <a:lnSpc>
                <a:spcPct val="100000"/>
              </a:lnSpc>
            </a:pPr>
            <a:r>
              <a:rPr lang="en-US" sz="2400" dirty="0">
                <a:solidFill>
                  <a:srgbClr val="475569"/>
                </a:solidFill>
                <a:highlight>
                  <a:srgbClr val="FFFFFF">
                    <a:alpha val="100000"/>
                  </a:srgbClr>
                </a:highlight>
                <a:latin typeface="Inter, sans-serif" pitchFamily="34" charset="0"/>
                <a:ea typeface="Inter, sans-serif" pitchFamily="34" charset="-122"/>
                <a:cs typeface="Inter, sans-serif" pitchFamily="34" charset="-120"/>
              </a:rPr>
              <a:t>    HTML5, CSS3, JavaScript / React</a:t>
            </a:r>
            <a:endParaRPr lang="en-US" sz="1600" dirty="0"/>
          </a:p>
          <a:p>
            <a:pPr>
              <a:lnSpc>
                <a:spcPct val="100000"/>
              </a:lnSpc>
            </a:pPr>
            <a:r>
              <a:rPr lang="en-US" sz="2400" b="1" dirty="0">
                <a:solidFill>
                  <a:srgbClr val="1E40AF"/>
                </a:solidFill>
                <a:highlight>
                  <a:srgbClr val="EFF6FF">
                    <a:alpha val="100000"/>
                  </a:srgbClr>
                </a:highlight>
                <a:latin typeface="Inter, sans-serif" pitchFamily="34" charset="0"/>
                <a:ea typeface="Inter, sans-serif" pitchFamily="34" charset="-122"/>
                <a:cs typeface="Inter, sans-serif" pitchFamily="34" charset="-120"/>
              </a:rPr>
              <a:t>    Run dashboards, driver logs, and mobile signature canvas views.</a:t>
            </a:r>
            <a:endParaRPr lang="en-US" sz="1600" dirty="0"/>
          </a:p>
          <a:p>
            <a:pPr>
              <a:lnSpc>
                <a:spcPct val="100000"/>
              </a:lnSpc>
            </a:pPr>
            <a:r>
              <a:rPr lang="en-US" sz="2400" b="1" dirty="0">
                <a:solidFill>
                  <a:srgbClr val="0F172A"/>
                </a:solidFill>
                <a:highlight>
                  <a:srgbClr val="FFFFFF">
                    <a:alpha val="100000"/>
                  </a:srgbClr>
                </a:highlight>
                <a:latin typeface="Inter, sans-serif" pitchFamily="34" charset="0"/>
                <a:ea typeface="Inter, sans-serif" pitchFamily="34" charset="-122"/>
                <a:cs typeface="Inter, sans-serif" pitchFamily="34" charset="-120"/>
              </a:rPr>
              <a:t> </a:t>
            </a:r>
            <a:pPr>
              <a:lnSpc>
                <a:spcPct val="100000"/>
              </a:lnSpc>
            </a:pPr>
            <a:r>
              <a:rPr lang="en-US" sz="2400" b="1" dirty="0">
                <a:solidFill>
                  <a:srgbClr val="10B981"/>
                </a:solidFill>
                <a:highlight>
                  <a:srgbClr val="FFFFFF">
                    <a:alpha val="100000"/>
                  </a:srgbClr>
                </a:highlight>
                <a:latin typeface="Inter, sans-serif" pitchFamily="34" charset="0"/>
                <a:ea typeface="Inter, sans-serif" pitchFamily="34" charset="-122"/>
                <a:cs typeface="Inter, sans-serif" pitchFamily="34" charset="-120"/>
              </a:rPr>
              <a:t>02</a:t>
            </a:r>
            <a:pPr>
              <a:lnSpc>
                <a:spcPct val="100000"/>
              </a:lnSpc>
            </a:pPr>
            <a:r>
              <a:rPr lang="en-US" sz="2400" b="1" dirty="0">
                <a:solidFill>
                  <a:srgbClr val="0F172A"/>
                </a:solidFill>
                <a:highlight>
                  <a:srgbClr val="FFFFFF">
                    <a:alpha val="100000"/>
                  </a:srgbClr>
                </a:highlight>
                <a:latin typeface="Inter, sans-serif" pitchFamily="34" charset="0"/>
                <a:ea typeface="Inter, sans-serif" pitchFamily="34" charset="-122"/>
                <a:cs typeface="Inter, sans-serif" pitchFamily="34" charset="-120"/>
              </a:rPr>
              <a:t>  Backend</a:t>
            </a:r>
            <a:endParaRPr lang="en-US" sz="1600" dirty="0"/>
          </a:p>
          <a:p>
            <a:pPr>
              <a:lnSpc>
                <a:spcPct val="100000"/>
              </a:lnSpc>
            </a:pPr>
            <a:r>
              <a:rPr lang="en-US" sz="2400" dirty="0">
                <a:solidFill>
                  <a:srgbClr val="475569"/>
                </a:solidFill>
                <a:highlight>
                  <a:srgbClr val="FFFFFF">
                    <a:alpha val="100000"/>
                  </a:srgbClr>
                </a:highlight>
                <a:latin typeface="Inter, sans-serif" pitchFamily="34" charset="0"/>
                <a:ea typeface="Inter, sans-serif" pitchFamily="34" charset="-122"/>
                <a:cs typeface="Inter, sans-serif" pitchFamily="34" charset="-120"/>
              </a:rPr>
              <a:t>        Node.js Express / Python Flask</a:t>
            </a:r>
            <a:endParaRPr lang="en-US" sz="1600" dirty="0"/>
          </a:p>
          <a:p>
            <a:pPr>
              <a:lnSpc>
                <a:spcPct val="100000"/>
              </a:lnSpc>
            </a:pPr>
            <a:r>
              <a:rPr lang="en-US" sz="2400" b="1" dirty="0">
                <a:solidFill>
                  <a:srgbClr val="065F46"/>
                </a:solidFill>
                <a:highlight>
                  <a:srgbClr val="ECFDF5">
                    <a:alpha val="100000"/>
                  </a:srgbClr>
                </a:highlight>
                <a:latin typeface="Inter, sans-serif" pitchFamily="34" charset="0"/>
                <a:ea typeface="Inter, sans-serif" pitchFamily="34" charset="-122"/>
                <a:cs typeface="Inter, sans-serif" pitchFamily="34" charset="-120"/>
              </a:rPr>
              <a:t>        RESTful APIs handling stop sequences, updates, and validations.</a:t>
            </a:r>
            <a:endParaRPr lang="en-US" sz="1600" dirty="0"/>
          </a:p>
          <a:p>
            <a:pPr>
              <a:lnSpc>
                <a:spcPct val="100000"/>
              </a:lnSpc>
            </a:pPr>
            <a:r>
              <a:rPr lang="en-US" sz="2400" b="1" dirty="0">
                <a:solidFill>
                  <a:srgbClr val="F59E0B"/>
                </a:solidFill>
                <a:highlight>
                  <a:srgbClr val="FFFFFF">
                    <a:alpha val="100000"/>
                  </a:srgbClr>
                </a:highlight>
                <a:latin typeface="Inter, sans-serif" pitchFamily="34" charset="0"/>
                <a:ea typeface="Inter, sans-serif" pitchFamily="34" charset="-122"/>
                <a:cs typeface="Inter, sans-serif" pitchFamily="34" charset="-120"/>
              </a:rPr>
              <a:t>03 </a:t>
            </a:r>
            <a:endParaRPr lang="en-US" sz="1600" dirty="0"/>
          </a:p>
          <a:p>
            <a:pPr>
              <a:lnSpc>
                <a:spcPct val="100000"/>
              </a:lnSpc>
            </a:pPr>
            <a:r>
              <a:rPr lang="en-US" sz="2400" b="1" dirty="0">
                <a:solidFill>
                  <a:srgbClr val="0F172A"/>
                </a:solidFill>
                <a:highlight>
                  <a:srgbClr val="FFFFFF">
                    <a:alpha val="100000"/>
                  </a:srgbClr>
                </a:highlight>
                <a:latin typeface="Inter, sans-serif" pitchFamily="34" charset="0"/>
                <a:ea typeface="Inter, sans-serif" pitchFamily="34" charset="-122"/>
                <a:cs typeface="Inter, sans-serif" pitchFamily="34" charset="-120"/>
              </a:rPr>
              <a:t>Database</a:t>
            </a:r>
            <a:endParaRPr lang="en-US" sz="1600" dirty="0"/>
          </a:p>
          <a:p>
            <a:pPr>
              <a:lnSpc>
                <a:spcPct val="100000"/>
              </a:lnSpc>
            </a:pPr>
            <a:r>
              <a:rPr lang="en-US" sz="2400" dirty="0">
                <a:solidFill>
                  <a:srgbClr val="475569"/>
                </a:solidFill>
                <a:highlight>
                  <a:srgbClr val="FFFFFF">
                    <a:alpha val="100000"/>
                  </a:srgbClr>
                </a:highlight>
                <a:latin typeface="Inter, sans-serif" pitchFamily="34" charset="0"/>
                <a:ea typeface="Inter, sans-serif" pitchFamily="34" charset="-122"/>
                <a:cs typeface="Inter, sans-serif" pitchFamily="34" charset="-120"/>
              </a:rPr>
              <a:t>      MySQL / PostgreSQL / Firebase</a:t>
            </a:r>
            <a:endParaRPr lang="en-US" sz="1600" dirty="0"/>
          </a:p>
          <a:p>
            <a:pPr>
              <a:lnSpc>
                <a:spcPct val="100000"/>
              </a:lnSpc>
            </a:pPr>
            <a:r>
              <a:rPr lang="en-US" sz="2400" b="1" dirty="0">
                <a:solidFill>
                  <a:srgbClr val="92400E"/>
                </a:solidFill>
                <a:highlight>
                  <a:srgbClr val="FFFBEB">
                    <a:alpha val="100000"/>
                  </a:srgbClr>
                </a:highlight>
                <a:latin typeface="Inter, sans-serif" pitchFamily="34" charset="0"/>
                <a:ea typeface="Inter, sans-serif" pitchFamily="34" charset="-122"/>
                <a:cs typeface="Inter, sans-serif" pitchFamily="34" charset="-120"/>
              </a:rPr>
              <a:t>      Structured schemas for SKUs, active run orders, and POD metadata.</a:t>
            </a:r>
            <a:endParaRPr lang="en-US" sz="1600" dirty="0"/>
          </a:p>
          <a:p>
            <a:pPr>
              <a:lnSpc>
                <a:spcPct val="100000"/>
              </a:lnSpc>
            </a:pPr>
            <a:r>
              <a:rPr lang="en-US" sz="2400" b="1" dirty="0">
                <a:solidFill>
                  <a:srgbClr val="8B5CF6"/>
                </a:solidFill>
                <a:highlight>
                  <a:srgbClr val="FFFFFF">
                    <a:alpha val="100000"/>
                  </a:srgbClr>
                </a:highlight>
                <a:latin typeface="Inter, sans-serif" pitchFamily="34" charset="0"/>
                <a:ea typeface="Inter, sans-serif" pitchFamily="34" charset="-122"/>
                <a:cs typeface="Inter, sans-serif" pitchFamily="34" charset="-120"/>
              </a:rPr>
              <a:t> </a:t>
            </a:r>
            <a:endParaRPr lang="en-US" sz="1600" dirty="0"/>
          </a:p>
          <a:p>
            <a:pPr>
              <a:lnSpc>
                <a:spcPct val="100000"/>
              </a:lnSpc>
            </a:pPr>
            <a:r>
              <a:rPr lang="en-US" sz="2400" b="1" dirty="0">
                <a:solidFill>
                  <a:srgbClr val="0F172A"/>
                </a:solidFill>
                <a:highlight>
                  <a:srgbClr val="FFFFFF">
                    <a:alpha val="100000"/>
                  </a:srgbClr>
                </a:highlight>
                <a:latin typeface="Inter, sans-serif" pitchFamily="34" charset="0"/>
                <a:ea typeface="Inter, sans-serif" pitchFamily="34" charset="-122"/>
                <a:cs typeface="Inter, sans-serif" pitchFamily="34" charset="-120"/>
              </a:rPr>
              <a:t> </a:t>
            </a:r>
            <a:pPr>
              <a:lnSpc>
                <a:spcPct val="100000"/>
              </a:lnSpc>
            </a:pPr>
            <a:r>
              <a:rPr lang="en-US" sz="2400" b="1" dirty="0">
                <a:solidFill>
                  <a:srgbClr val="8B5CF6"/>
                </a:solidFill>
                <a:highlight>
                  <a:srgbClr val="FFFFFF">
                    <a:alpha val="100000"/>
                  </a:srgbClr>
                </a:highlight>
                <a:latin typeface="Inter, sans-serif" pitchFamily="34" charset="0"/>
                <a:ea typeface="Inter, sans-serif" pitchFamily="34" charset="-122"/>
                <a:cs typeface="Inter, sans-serif" pitchFamily="34" charset="-120"/>
              </a:rPr>
              <a:t>04 </a:t>
            </a:r>
            <a:pPr>
              <a:lnSpc>
                <a:spcPct val="100000"/>
              </a:lnSpc>
            </a:pPr>
            <a:r>
              <a:rPr lang="en-US" sz="2400" b="1" dirty="0">
                <a:solidFill>
                  <a:srgbClr val="0F172A"/>
                </a:solidFill>
                <a:highlight>
                  <a:srgbClr val="FFFFFF">
                    <a:alpha val="100000"/>
                  </a:srgbClr>
                </a:highlight>
                <a:latin typeface="Inter, sans-serif" pitchFamily="34" charset="0"/>
                <a:ea typeface="Inter, sans-serif" pitchFamily="34" charset="-122"/>
                <a:cs typeface="Inter, sans-serif" pitchFamily="34" charset="-120"/>
              </a:rPr>
              <a:t> AI &amp; Rules</a:t>
            </a:r>
            <a:endParaRPr lang="en-US" sz="1600" dirty="0"/>
          </a:p>
          <a:p>
            <a:pPr>
              <a:lnSpc>
                <a:spcPct val="100000"/>
              </a:lnSpc>
            </a:pPr>
            <a:r>
              <a:rPr lang="en-US" sz="2400" dirty="0">
                <a:solidFill>
                  <a:srgbClr val="475569"/>
                </a:solidFill>
                <a:highlight>
                  <a:srgbClr val="FFFFFF">
                    <a:alpha val="100000"/>
                  </a:srgbClr>
                </a:highlight>
                <a:latin typeface="Inter, sans-serif" pitchFamily="34" charset="0"/>
                <a:ea typeface="Inter, sans-serif" pitchFamily="34" charset="-122"/>
                <a:cs typeface="Inter, sans-serif" pitchFamily="34" charset="-120"/>
              </a:rPr>
              <a:t>      Rule-based Sequencing Logic</a:t>
            </a:r>
            <a:endParaRPr lang="en-US" sz="1600" dirty="0"/>
          </a:p>
          <a:p>
            <a:pPr>
              <a:lnSpc>
                <a:spcPct val="100000"/>
              </a:lnSpc>
            </a:pPr>
            <a:r>
              <a:rPr lang="en-US" sz="2400" b="1" dirty="0">
                <a:solidFill>
                  <a:srgbClr val="5B21B6"/>
                </a:solidFill>
                <a:highlight>
                  <a:srgbClr val="F5F3FF">
                    <a:alpha val="100000"/>
                  </a:srgbClr>
                </a:highlight>
                <a:latin typeface="Inter, sans-serif" pitchFamily="34" charset="0"/>
                <a:ea typeface="Inter, sans-serif" pitchFamily="34" charset="-122"/>
                <a:cs typeface="Inter, sans-serif" pitchFamily="34" charset="-120"/>
              </a:rPr>
              <a:t>     Route priority logic and skipped stop escalations.</a:t>
            </a:r>
            <a:endParaRPr lang="en-US" sz="1600" dirty="0"/>
          </a:p>
          <a:p>
            <a:pPr>
              <a:lnSpc>
                <a:spcPct val="100000"/>
              </a:lnSpc>
            </a:pPr>
            <a:r>
              <a:rPr lang="en-US" sz="2400" b="1" dirty="0">
                <a:solidFill>
                  <a:srgbClr val="EC4899"/>
                </a:solidFill>
                <a:highlight>
                  <a:srgbClr val="FFFFFF">
                    <a:alpha val="100000"/>
                  </a:srgbClr>
                </a:highlight>
                <a:latin typeface="Inter, sans-serif" pitchFamily="34" charset="0"/>
                <a:ea typeface="Inter, sans-serif" pitchFamily="34" charset="-122"/>
                <a:cs typeface="Inter, sans-serif" pitchFamily="34" charset="-120"/>
              </a:rPr>
              <a:t>05 / Notification</a:t>
            </a:r>
            <a:endParaRPr lang="en-US" sz="1600" dirty="0"/>
          </a:p>
          <a:p>
            <a:pPr>
              <a:lnSpc>
                <a:spcPct val="100000"/>
              </a:lnSpc>
            </a:pPr>
            <a:r>
              <a:rPr lang="en-US" sz="2400" b="1" dirty="0">
                <a:solidFill>
                  <a:srgbClr val="0F172A"/>
                </a:solidFill>
                <a:highlight>
                  <a:srgbClr val="FFFFFF">
                    <a:alpha val="100000"/>
                  </a:srgbClr>
                </a:highlight>
                <a:latin typeface="Inter, sans-serif" pitchFamily="34" charset="0"/>
                <a:ea typeface="Inter, sans-serif" pitchFamily="34" charset="-122"/>
                <a:cs typeface="Inter, sans-serif" pitchFamily="34" charset="-120"/>
              </a:rPr>
              <a:t>Integrations</a:t>
            </a:r>
            <a:endParaRPr lang="en-US" sz="1600" dirty="0"/>
          </a:p>
          <a:p>
            <a:pPr>
              <a:lnSpc>
                <a:spcPct val="100000"/>
              </a:lnSpc>
            </a:pPr>
            <a:r>
              <a:rPr lang="en-US" sz="2400" dirty="0">
                <a:solidFill>
                  <a:srgbClr val="475569"/>
                </a:solidFill>
                <a:highlight>
                  <a:srgbClr val="FFFFFF">
                    <a:alpha val="100000"/>
                  </a:srgbClr>
                </a:highlight>
                <a:latin typeface="Inter, sans-serif" pitchFamily="34" charset="0"/>
                <a:ea typeface="Inter, sans-serif" pitchFamily="34" charset="-122"/>
                <a:cs typeface="Inter, sans-serif" pitchFamily="34" charset="-120"/>
              </a:rPr>
              <a:t>   WhatsApp API &amp; PDF Export</a:t>
            </a:r>
            <a:endParaRPr lang="en-US" sz="1600" dirty="0"/>
          </a:p>
          <a:p>
            <a:pPr>
              <a:lnSpc>
                <a:spcPct val="100000"/>
              </a:lnSpc>
            </a:pPr>
            <a:r>
              <a:rPr lang="en-US" sz="2400" b="1" dirty="0">
                <a:solidFill>
                  <a:srgbClr val="9D174D"/>
                </a:solidFill>
                <a:highlight>
                  <a:srgbClr val="FDF2F8">
                    <a:alpha val="100000"/>
                  </a:srgbClr>
                </a:highlight>
                <a:latin typeface="Inter, sans-serif" pitchFamily="34" charset="0"/>
                <a:ea typeface="Inter, sans-serif" pitchFamily="34" charset="-122"/>
                <a:cs typeface="Inter, sans-serif" pitchFamily="34" charset="-120"/>
              </a:rPr>
              <a:t>   Automated dispatcher notifications and receipt exports.</a:t>
            </a:r>
            <a:endParaRPr lang="en-US" sz="1600" dirty="0"/>
          </a:p>
          <a:p>
            <a:pPr>
              <a:lnSpc>
                <a:spcPct val="100000"/>
              </a:lnSpc>
            </a:pPr>
            <a:r>
              <a:rPr lang="en-US" sz="2400" dirty="0">
                <a:solidFill>
                  <a:srgbClr val="64748B"/>
                </a:solidFill>
                <a:highlight>
                  <a:srgbClr val="64748B">
                    <a:alpha val="20000"/>
                  </a:srgbClr>
                </a:highlight>
                <a:latin typeface="Inter, sans-serif" pitchFamily="34" charset="0"/>
                <a:ea typeface="Inter, sans-serif" pitchFamily="34" charset="-122"/>
                <a:cs typeface="Inter, sans-serif" pitchFamily="34" charset="-120"/>
              </a:rPr>
              <a:t>    </a:t>
            </a:r>
            <a:pPr>
              <a:lnSpc>
                <a:spcPct val="100000"/>
              </a:lnSpc>
            </a:pPr>
            <a:r>
              <a:rPr lang="en-US" sz="2400" b="1" dirty="0">
                <a:solidFill>
                  <a:srgbClr val="64748B"/>
                </a:solidFill>
                <a:highlight>
                  <a:srgbClr val="64748B">
                    <a:alpha val="20000"/>
                  </a:srgbClr>
                </a:highlight>
                <a:latin typeface="Inter, sans-serif" pitchFamily="34" charset="0"/>
                <a:ea typeface="Inter, sans-serif" pitchFamily="34" charset="-122"/>
                <a:cs typeface="Inter, sans-serif" pitchFamily="34" charset="-120"/>
              </a:rPr>
              <a:t>Ganga Maxx Marketplace  |  B2B Delivery Tracker10 / 1</a:t>
            </a:r>
            <a:pPr>
              <a:lnSpc>
                <a:spcPct val="100000"/>
              </a:lnSpc>
            </a:pPr>
            <a:r>
              <a:rPr lang="en-US" sz="2400" b="1" dirty="0">
                <a:solidFill>
                  <a:srgbClr val="0F172A"/>
                </a:solidFill>
                <a:highlight>
                  <a:srgbClr val="FFFFFF">
                    <a:alpha val="100000"/>
                  </a:srgbClr>
                </a:highlight>
                <a:latin typeface="Inter, sans-serif" pitchFamily="34" charset="0"/>
                <a:ea typeface="Inter, sans-serif" pitchFamily="34" charset="-122"/>
                <a:cs typeface="Inter, sans-serif" pitchFamily="34" charset="-120"/>
              </a:rPr>
              <a:t>1</a:t>
            </a:r>
            <a:endParaRPr lang="en-US" sz="1600" dirty="0"/>
          </a:p>
        </p:txBody>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Shape 0"/>
          <p:cNvSpPr/>
          <p:nvPr/>
        </p:nvSpPr>
        <p:spPr>
          <a:xfrm>
            <a:off x="20320000" y="1270000"/>
            <a:ext cx="3175000" cy="3175000"/>
          </a:xfrm>
          <a:prstGeom prst="ellipse">
            <a:avLst/>
          </a:prstGeom>
          <a:solidFill>
            <a:srgbClr val="10B981">
              <a:alpha val="6275"/>
            </a:srgbClr>
          </a:solidFill>
          <a:ln/>
        </p:spPr>
      </p:sp>
      <p:sp>
        <p:nvSpPr>
          <p:cNvPr id="4" name="Shape 1"/>
          <p:cNvSpPr/>
          <p:nvPr/>
        </p:nvSpPr>
        <p:spPr>
          <a:xfrm>
            <a:off x="9398000" y="5461000"/>
            <a:ext cx="25400" cy="6985000"/>
          </a:xfrm>
          <a:prstGeom prst="rect">
            <a:avLst/>
          </a:prstGeom>
          <a:solidFill>
            <a:srgbClr val="10B981">
              <a:alpha val="14510"/>
            </a:srgbClr>
          </a:solidFill>
          <a:ln/>
        </p:spPr>
      </p:sp>
      <p:sp>
        <p:nvSpPr>
          <p:cNvPr id="5" name="Shape 2"/>
          <p:cNvSpPr/>
          <p:nvPr/>
        </p:nvSpPr>
        <p:spPr>
          <a:xfrm>
            <a:off x="762000" y="11747500"/>
            <a:ext cx="4318000" cy="635000"/>
          </a:xfrm>
          <a:prstGeom prst="rect">
            <a:avLst/>
          </a:prstGeom>
          <a:solidFill>
            <a:srgbClr val="FFFFFF"/>
          </a:solidFill>
          <a:ln/>
        </p:spPr>
      </p:sp>
      <p:sp>
        <p:nvSpPr>
          <p:cNvPr id="6" name="Text 3"/>
          <p:cNvSpPr/>
          <p:nvPr/>
        </p:nvSpPr>
        <p:spPr>
          <a:xfrm>
            <a:off x="1079500" y="12605984"/>
            <a:ext cx="3810000" cy="508000"/>
          </a:xfrm>
          <a:prstGeom prst="rect">
            <a:avLst/>
          </a:prstGeom>
          <a:noFill/>
          <a:ln/>
        </p:spPr>
        <p:txBody>
          <a:bodyPr wrap="none" lIns="0" tIns="0" rIns="0" bIns="0" rtlCol="0" anchor="t"/>
          <a:lstStyle/>
          <a:p>
            <a:pPr>
              <a:lnSpc>
                <a:spcPct val="100000"/>
              </a:lnSpc>
            </a:pPr>
            <a:r>
              <a:rPr lang="en-US" sz="2000" spc="100" kern="0" dirty="0">
                <a:solidFill>
                  <a:srgbClr val="10B981"/>
                </a:solidFill>
                <a:latin typeface="Quattrocento Sans" pitchFamily="34" charset="0"/>
                <a:ea typeface="Quattrocento Sans" pitchFamily="34" charset="-122"/>
                <a:cs typeface="Quattrocento Sans" pitchFamily="34" charset="-120"/>
              </a:rPr>
              <a:t>GANGA MAXX</a:t>
            </a:r>
            <a:endParaRPr lang="en-US" sz="1600" dirty="0"/>
          </a:p>
        </p:txBody>
      </p:sp>
      <p:sp>
        <p:nvSpPr>
          <p:cNvPr id="7" name="Text 4"/>
          <p:cNvSpPr/>
          <p:nvPr/>
        </p:nvSpPr>
        <p:spPr>
          <a:xfrm>
            <a:off x="1249680" y="1272540"/>
            <a:ext cx="12403836" cy="2794000"/>
          </a:xfrm>
          <a:prstGeom prst="rect">
            <a:avLst/>
          </a:prstGeom>
          <a:noFill/>
          <a:ln/>
        </p:spPr>
        <p:txBody>
          <a:bodyPr wrap="square" lIns="0" tIns="0" rIns="0" bIns="0" rtlCol="0" anchor="t"/>
          <a:lstStyle/>
          <a:p>
            <a:pPr>
              <a:lnSpc>
                <a:spcPct val="100000"/>
              </a:lnSpc>
            </a:pPr>
            <a:r>
              <a:rPr lang="en-US" sz="8000" dirty="0">
                <a:solidFill>
                  <a:srgbClr val="1A1A1A"/>
                </a:solidFill>
                <a:latin typeface="Liter" pitchFamily="34" charset="0"/>
                <a:ea typeface="Liter" pitchFamily="34" charset="-122"/>
                <a:cs typeface="Liter" pitchFamily="34" charset="-120"/>
              </a:rPr>
              <a:t>Project Title &amp;</a:t>
            </a:r>
            <a:endParaRPr lang="en-US" sz="1600" dirty="0"/>
          </a:p>
          <a:p>
            <a:pPr>
              <a:lnSpc>
                <a:spcPct val="100000"/>
              </a:lnSpc>
            </a:pPr>
            <a:r>
              <a:rPr lang="en-US" sz="8000" dirty="0">
                <a:solidFill>
                  <a:srgbClr val="1A1A1A"/>
                </a:solidFill>
                <a:latin typeface="Liter" pitchFamily="34" charset="0"/>
                <a:ea typeface="Liter" pitchFamily="34" charset="-122"/>
                <a:cs typeface="Liter" pitchFamily="34" charset="-120"/>
              </a:rPr>
              <a:t>Domain Overview</a:t>
            </a:r>
            <a:endParaRPr lang="en-US" sz="1600" dirty="0"/>
          </a:p>
        </p:txBody>
      </p:sp>
      <p:sp>
        <p:nvSpPr>
          <p:cNvPr id="8" name="Text 5"/>
          <p:cNvSpPr/>
          <p:nvPr/>
        </p:nvSpPr>
        <p:spPr>
          <a:xfrm>
            <a:off x="1249680" y="4318000"/>
            <a:ext cx="7620000" cy="635000"/>
          </a:xfrm>
          <a:prstGeom prst="rect">
            <a:avLst/>
          </a:prstGeom>
          <a:noFill/>
          <a:ln/>
        </p:spPr>
        <p:txBody>
          <a:bodyPr wrap="none" lIns="0" tIns="0" rIns="0" bIns="0" rtlCol="0" anchor="t"/>
          <a:lstStyle/>
          <a:p>
            <a:pPr>
              <a:lnSpc>
                <a:spcPct val="100000"/>
              </a:lnSpc>
            </a:pPr>
            <a:r>
              <a:rPr lang="en-US" sz="3900" b="1" dirty="0">
                <a:solidFill>
                  <a:srgbClr val="10B981"/>
                </a:solidFill>
                <a:latin typeface="Georgia" pitchFamily="34" charset="0"/>
                <a:ea typeface="Georgia" pitchFamily="34" charset="-122"/>
                <a:cs typeface="Georgia" pitchFamily="34" charset="-120"/>
              </a:rPr>
              <a:t>B2B Cleaning Supplies Last-Mile Delivery Tracke</a:t>
            </a:r>
            <a:pPr>
              <a:lnSpc>
                <a:spcPct val="100000"/>
              </a:lnSpc>
            </a:pPr>
            <a:r>
              <a:rPr lang="en-US" sz="3900" b="1" dirty="0">
                <a:solidFill>
                  <a:srgbClr val="10B981"/>
                </a:solidFill>
                <a:latin typeface="Liter" pitchFamily="34" charset="0"/>
                <a:ea typeface="Liter" pitchFamily="34" charset="-122"/>
                <a:cs typeface="Liter" pitchFamily="34" charset="-120"/>
              </a:rPr>
              <a:t>r</a:t>
            </a:r>
            <a:endParaRPr lang="en-US" sz="1600" dirty="0"/>
          </a:p>
        </p:txBody>
      </p:sp>
      <p:sp>
        <p:nvSpPr>
          <p:cNvPr id="9" name="Text 6"/>
          <p:cNvSpPr/>
          <p:nvPr/>
        </p:nvSpPr>
        <p:spPr>
          <a:xfrm>
            <a:off x="1249680" y="5461000"/>
            <a:ext cx="7620000" cy="7234504"/>
          </a:xfrm>
          <a:prstGeom prst="rect">
            <a:avLst/>
          </a:prstGeom>
          <a:noFill/>
          <a:ln/>
        </p:spPr>
        <p:txBody>
          <a:bodyPr wrap="square" lIns="0" tIns="0" rIns="0" bIns="0" rtlCol="0" anchor="t"/>
          <a:lstStyle/>
          <a:p>
            <a:pPr>
              <a:lnSpc>
                <a:spcPct val="100000"/>
              </a:lnSpc>
            </a:pPr>
            <a:r>
              <a:rPr lang="en-US" sz="3000" b="1" dirty="0">
                <a:solidFill>
                  <a:srgbClr val="1A1A1A"/>
                </a:solidFill>
                <a:latin typeface="Quattrocento Sans" pitchFamily="34" charset="0"/>
                <a:ea typeface="Quattrocento Sans" pitchFamily="34" charset="-122"/>
                <a:cs typeface="Quattrocento Sans" pitchFamily="34" charset="-120"/>
              </a:rPr>
              <a:t>Full Name:</a:t>
            </a:r>
            <a:pPr>
              <a:lnSpc>
                <a:spcPct val="100000"/>
              </a:lnSpc>
            </a:pPr>
            <a:r>
              <a:rPr lang="en-US" sz="3000" dirty="0">
                <a:solidFill>
                  <a:srgbClr val="1A1A1A"/>
                </a:solidFill>
                <a:latin typeface="Quattrocento Sans" pitchFamily="34" charset="0"/>
                <a:ea typeface="Quattrocento Sans" pitchFamily="34" charset="-122"/>
                <a:cs typeface="Quattrocento Sans" pitchFamily="34" charset="-120"/>
              </a:rPr>
              <a:t> B2B Cleaning Supplies Last-Mile Delivery Tracker</a:t>
            </a:r>
            <a:endParaRPr lang="en-US" sz="1600" dirty="0"/>
          </a:p>
          <a:p>
            <a:pPr>
              <a:lnSpc>
                <a:spcPct val="100000"/>
              </a:lnSpc>
            </a:pPr>
            <a:r>
              <a:rPr lang="en-US" sz="3000" b="1" dirty="0">
                <a:solidFill>
                  <a:srgbClr val="1A1A1A"/>
                </a:solidFill>
                <a:latin typeface="Quattrocento Sans" pitchFamily="34" charset="0"/>
                <a:ea typeface="Quattrocento Sans" pitchFamily="34" charset="-122"/>
                <a:cs typeface="Quattrocento Sans" pitchFamily="34" charset="-120"/>
              </a:rPr>
              <a:t>Domain:</a:t>
            </a:r>
            <a:pPr>
              <a:lnSpc>
                <a:spcPct val="100000"/>
              </a:lnSpc>
            </a:pPr>
            <a:r>
              <a:rPr lang="en-US" sz="3000" dirty="0">
                <a:solidFill>
                  <a:srgbClr val="1A1A1A"/>
                </a:solidFill>
                <a:latin typeface="Quattrocento Sans" pitchFamily="34" charset="0"/>
                <a:ea typeface="Quattrocento Sans" pitchFamily="34" charset="-122"/>
                <a:cs typeface="Quattrocento Sans" pitchFamily="34" charset="-120"/>
              </a:rPr>
              <a:t> Last-mile logistics, B2B institutional sales, delivery operations</a:t>
            </a:r>
            <a:endParaRPr lang="en-US" sz="1600" dirty="0"/>
          </a:p>
          <a:p>
            <a:pPr>
              <a:lnSpc>
                <a:spcPct val="100000"/>
              </a:lnSpc>
            </a:pPr>
            <a:r>
              <a:rPr lang="en-US" sz="3000" b="1" dirty="0">
                <a:solidFill>
                  <a:srgbClr val="1A1A1A"/>
                </a:solidFill>
                <a:latin typeface="Quattrocento Sans" pitchFamily="34" charset="0"/>
                <a:ea typeface="Quattrocento Sans" pitchFamily="34" charset="-122"/>
                <a:cs typeface="Quattrocento Sans" pitchFamily="34" charset="-120"/>
              </a:rPr>
              <a:t>What is last-mile delivery?</a:t>
            </a:r>
            <a:endParaRPr lang="en-US" sz="1600" dirty="0"/>
          </a:p>
          <a:p>
            <a:pPr>
              <a:lnSpc>
                <a:spcPct val="100000"/>
              </a:lnSpc>
            </a:pPr>
            <a:r>
              <a:rPr lang="en-US" sz="3000" dirty="0">
                <a:solidFill>
                  <a:srgbClr val="1A1A1A"/>
                </a:solidFill>
                <a:latin typeface="Quattrocento Sans" pitchFamily="34" charset="0"/>
                <a:ea typeface="Quattrocento Sans" pitchFamily="34" charset="-122"/>
                <a:cs typeface="Quattrocento Sans" pitchFamily="34" charset="-120"/>
              </a:rPr>
              <a:t>The final leg of delivery  from Ganga Maxx warehouse to the customer's institution (school, hospital, hotel).</a:t>
            </a:r>
            <a:endParaRPr lang="en-US" sz="1600" dirty="0"/>
          </a:p>
          <a:p>
            <a:pPr>
              <a:lnSpc>
                <a:spcPct val="100000"/>
              </a:lnSpc>
            </a:pPr>
            <a:r>
              <a:rPr lang="en-US" sz="3000" b="1" dirty="0">
                <a:solidFill>
                  <a:srgbClr val="1A1A1A"/>
                </a:solidFill>
                <a:latin typeface="Quattrocento Sans" pitchFamily="34" charset="0"/>
                <a:ea typeface="Quattrocento Sans" pitchFamily="34" charset="-122"/>
                <a:cs typeface="Quattrocento Sans" pitchFamily="34" charset="-120"/>
              </a:rPr>
              <a:t>Key modules:</a:t>
            </a:r>
            <a:endParaRPr lang="en-US" sz="1600" dirty="0"/>
          </a:p>
          <a:p>
            <a:pPr marL="254000" indent="-254000">
              <a:lnSpc>
                <a:spcPct val="100000"/>
              </a:lnSpc>
              <a:spcBef>
                <a:spcPts val="10"/>
              </a:spcBef>
              <a:buSzPct val="100000"/>
              <a:buChar char="•"/>
            </a:pPr>
            <a:r>
              <a:rPr lang="en-US" sz="3000" dirty="0">
                <a:solidFill>
                  <a:srgbClr val="1A1A1A"/>
                </a:solidFill>
                <a:latin typeface="Quattrocento Sans" pitchFamily="34" charset="0"/>
                <a:ea typeface="Quattrocento Sans" pitchFamily="34" charset="-122"/>
                <a:cs typeface="Quattrocento Sans" pitchFamily="34" charset="-120"/>
              </a:rPr>
              <a:t>Delivery run creation</a:t>
            </a:r>
            <a:endParaRPr lang="en-US" sz="1600" dirty="0"/>
          </a:p>
          <a:p>
            <a:pPr marL="254000" indent="-254000">
              <a:lnSpc>
                <a:spcPct val="100000"/>
              </a:lnSpc>
              <a:spcBef>
                <a:spcPts val="10"/>
              </a:spcBef>
              <a:buSzPct val="100000"/>
              <a:buChar char="•"/>
            </a:pPr>
            <a:r>
              <a:rPr lang="en-US" sz="3000" dirty="0">
                <a:solidFill>
                  <a:srgbClr val="1A1A1A"/>
                </a:solidFill>
                <a:latin typeface="Quattrocento Sans" pitchFamily="34" charset="0"/>
                <a:ea typeface="Quattrocento Sans" pitchFamily="34" charset="-122"/>
                <a:cs typeface="Quattrocento Sans" pitchFamily="34" charset="-120"/>
              </a:rPr>
              <a:t>Route sequencing</a:t>
            </a:r>
            <a:endParaRPr lang="en-US" sz="1600" dirty="0"/>
          </a:p>
          <a:p>
            <a:pPr marL="254000" indent="-254000">
              <a:lnSpc>
                <a:spcPct val="100000"/>
              </a:lnSpc>
              <a:spcBef>
                <a:spcPts val="10"/>
              </a:spcBef>
              <a:buSzPct val="100000"/>
              <a:buChar char="•"/>
            </a:pPr>
            <a:r>
              <a:rPr lang="en-US" sz="3000" dirty="0">
                <a:solidFill>
                  <a:srgbClr val="1A1A1A"/>
                </a:solidFill>
                <a:latin typeface="Quattrocento Sans" pitchFamily="34" charset="0"/>
                <a:ea typeface="Quattrocento Sans" pitchFamily="34" charset="-122"/>
                <a:cs typeface="Quattrocento Sans" pitchFamily="34" charset="-120"/>
              </a:rPr>
              <a:t>Staff assignment</a:t>
            </a:r>
            <a:endParaRPr lang="en-US" sz="1600" dirty="0"/>
          </a:p>
          <a:p>
            <a:pPr marL="254000" indent="-254000">
              <a:lnSpc>
                <a:spcPct val="100000"/>
              </a:lnSpc>
              <a:spcBef>
                <a:spcPts val="10"/>
              </a:spcBef>
              <a:buSzPct val="100000"/>
              <a:buChar char="•"/>
            </a:pPr>
            <a:r>
              <a:rPr lang="en-US" sz="3000" dirty="0">
                <a:solidFill>
                  <a:srgbClr val="1A1A1A"/>
                </a:solidFill>
                <a:latin typeface="Quattrocento Sans" pitchFamily="34" charset="0"/>
                <a:ea typeface="Quattrocento Sans" pitchFamily="34" charset="-122"/>
                <a:cs typeface="Quattrocento Sans" pitchFamily="34" charset="-120"/>
              </a:rPr>
              <a:t>Quantity tracking</a:t>
            </a:r>
            <a:endParaRPr lang="en-US" sz="1600" dirty="0"/>
          </a:p>
          <a:p>
            <a:pPr marL="254000" indent="-254000">
              <a:lnSpc>
                <a:spcPct val="100000"/>
              </a:lnSpc>
              <a:spcBef>
                <a:spcPts val="10"/>
              </a:spcBef>
              <a:buSzPct val="100000"/>
              <a:buChar char="•"/>
            </a:pPr>
            <a:r>
              <a:rPr lang="en-US" sz="3000" dirty="0">
                <a:solidFill>
                  <a:srgbClr val="1A1A1A"/>
                </a:solidFill>
                <a:latin typeface="Quattrocento Sans" pitchFamily="34" charset="0"/>
                <a:ea typeface="Quattrocento Sans" pitchFamily="34" charset="-122"/>
                <a:cs typeface="Quattrocento Sans" pitchFamily="34" charset="-120"/>
              </a:rPr>
              <a:t>Proof of delivery</a:t>
            </a:r>
            <a:endParaRPr lang="en-US" sz="1600" dirty="0"/>
          </a:p>
        </p:txBody>
      </p:sp>
      <p:sp>
        <p:nvSpPr>
          <p:cNvPr id="10" name="Text 7"/>
          <p:cNvSpPr/>
          <p:nvPr/>
        </p:nvSpPr>
        <p:spPr>
          <a:xfrm>
            <a:off x="10069322" y="5334000"/>
            <a:ext cx="10160000" cy="6223000"/>
          </a:xfrm>
          <a:prstGeom prst="rect">
            <a:avLst/>
          </a:prstGeom>
          <a:noFill/>
          <a:ln/>
        </p:spPr>
        <p:txBody>
          <a:bodyPr wrap="square" lIns="0" tIns="0" rIns="0" bIns="0" rtlCol="0" anchor="t"/>
          <a:lstStyle/>
          <a:p>
            <a:pPr>
              <a:lnSpc>
                <a:spcPct val="100000"/>
              </a:lnSpc>
            </a:pPr>
            <a:r>
              <a:rPr lang="en-US" sz="3000" b="1" dirty="0">
                <a:solidFill>
                  <a:srgbClr val="1A1A1A"/>
                </a:solidFill>
                <a:latin typeface="Quattrocento Sans" pitchFamily="34" charset="0"/>
                <a:ea typeface="Quattrocento Sans" pitchFamily="34" charset="-122"/>
                <a:cs typeface="Quattrocento Sans" pitchFamily="34" charset="-120"/>
              </a:rPr>
              <a:t>Positioning:</a:t>
            </a:r>
            <a:pPr>
              <a:lnSpc>
                <a:spcPct val="100000"/>
              </a:lnSpc>
            </a:pPr>
            <a:r>
              <a:rPr lang="en-US" sz="3000" dirty="0">
                <a:solidFill>
                  <a:srgbClr val="1A1A1A"/>
                </a:solidFill>
                <a:latin typeface="Quattrocento Sans" pitchFamily="34" charset="0"/>
                <a:ea typeface="Quattrocento Sans" pitchFamily="34" charset="-122"/>
                <a:cs typeface="Quattrocento Sans" pitchFamily="34" charset="-120"/>
              </a:rPr>
              <a:t> A </a:t>
            </a:r>
            <a:pPr>
              <a:lnSpc>
                <a:spcPct val="100000"/>
              </a:lnSpc>
            </a:pPr>
            <a:r>
              <a:rPr lang="en-US" sz="3000" b="1" dirty="0">
                <a:solidFill>
                  <a:srgbClr val="1A1A1A"/>
                </a:solidFill>
                <a:latin typeface="Quattrocento Sans" pitchFamily="34" charset="0"/>
                <a:ea typeface="Quattrocento Sans" pitchFamily="34" charset="-122"/>
                <a:cs typeface="Quattrocento Sans" pitchFamily="34" charset="-120"/>
              </a:rPr>
              <a:t>digital coordination hub</a:t>
            </a:r>
            <a:pPr>
              <a:lnSpc>
                <a:spcPct val="100000"/>
              </a:lnSpc>
            </a:pPr>
            <a:r>
              <a:rPr lang="en-US" sz="3000" dirty="0">
                <a:solidFill>
                  <a:srgbClr val="1A1A1A"/>
                </a:solidFill>
                <a:latin typeface="Quattrocento Sans" pitchFamily="34" charset="0"/>
                <a:ea typeface="Quattrocento Sans" pitchFamily="34" charset="-122"/>
                <a:cs typeface="Quattrocento Sans" pitchFamily="34" charset="-120"/>
              </a:rPr>
              <a:t> replacing WhatsApp and spreadsheets for bulk cleaning supply deliveries to multiple institutions.</a:t>
            </a:r>
            <a:endParaRPr lang="en-US" sz="1600" dirty="0"/>
          </a:p>
          <a:p>
            <a:pPr>
              <a:lnSpc>
                <a:spcPct val="100000"/>
              </a:lnSpc>
            </a:pPr>
            <a:r>
              <a:rPr lang="en-US" sz="3000" b="1" dirty="0">
                <a:solidFill>
                  <a:srgbClr val="1A1A1A"/>
                </a:solidFill>
                <a:latin typeface="Quattrocento Sans" pitchFamily="34" charset="0"/>
                <a:ea typeface="Quattrocento Sans" pitchFamily="34" charset="-122"/>
                <a:cs typeface="Quattrocento Sans" pitchFamily="34" charset="-120"/>
              </a:rPr>
              <a:t>Target Users Input side:</a:t>
            </a:r>
            <a:endParaRPr lang="en-US" sz="1600" dirty="0"/>
          </a:p>
          <a:p>
            <a:pPr marL="254000" indent="-254000">
              <a:lnSpc>
                <a:spcPct val="100000"/>
              </a:lnSpc>
              <a:spcBef>
                <a:spcPts val="10"/>
              </a:spcBef>
              <a:buSzPct val="100000"/>
              <a:buChar char="•"/>
            </a:pPr>
            <a:r>
              <a:rPr lang="en-US" sz="3000" dirty="0">
                <a:solidFill>
                  <a:srgbClr val="1A1A1A"/>
                </a:solidFill>
                <a:latin typeface="Quattrocento Sans" pitchFamily="34" charset="0"/>
                <a:ea typeface="Quattrocento Sans" pitchFamily="34" charset="-122"/>
                <a:cs typeface="Quattrocento Sans" pitchFamily="34" charset="-120"/>
              </a:rPr>
              <a:t>Institutional Customer, Facility Manager</a:t>
            </a:r>
            <a:endParaRPr lang="en-US" sz="1600" dirty="0"/>
          </a:p>
          <a:p>
            <a:pPr marL="254000" indent="-254000">
              <a:lnSpc>
                <a:spcPct val="100000"/>
              </a:lnSpc>
              <a:spcBef>
                <a:spcPts val="10"/>
              </a:spcBef>
              <a:buSzPct val="100000"/>
              <a:buChar char="•"/>
            </a:pPr>
            <a:r>
              <a:rPr lang="en-US" sz="3000" dirty="0">
                <a:solidFill>
                  <a:srgbClr val="1A1A1A"/>
                </a:solidFill>
                <a:latin typeface="Quattrocento Sans" pitchFamily="34" charset="0"/>
                <a:ea typeface="Quattrocento Sans" pitchFamily="34" charset="-122"/>
                <a:cs typeface="Quattrocento Sans" pitchFamily="34" charset="-120"/>
              </a:rPr>
              <a:t>Housekeeping Manager, Dealer</a:t>
            </a:r>
            <a:endParaRPr lang="en-US" sz="1600" dirty="0"/>
          </a:p>
          <a:p>
            <a:pPr>
              <a:lnSpc>
                <a:spcPct val="100000"/>
              </a:lnSpc>
            </a:pPr>
            <a:r>
              <a:rPr lang="en-US" sz="3000" b="1" dirty="0">
                <a:solidFill>
                  <a:srgbClr val="1A1A1A"/>
                </a:solidFill>
                <a:latin typeface="Quattrocento Sans" pitchFamily="34" charset="0"/>
                <a:ea typeface="Quattrocento Sans" pitchFamily="34" charset="-122"/>
                <a:cs typeface="Quattrocento Sans" pitchFamily="34" charset="-120"/>
              </a:rPr>
              <a:t>Target Users  Operations side:</a:t>
            </a:r>
            <a:endParaRPr lang="en-US" sz="1600" dirty="0"/>
          </a:p>
          <a:p>
            <a:pPr marL="254000" indent="-254000">
              <a:lnSpc>
                <a:spcPct val="100000"/>
              </a:lnSpc>
              <a:spcBef>
                <a:spcPts val="10"/>
              </a:spcBef>
              <a:buSzPct val="100000"/>
              <a:buChar char="•"/>
            </a:pPr>
            <a:r>
              <a:rPr lang="en-US" sz="3000" dirty="0">
                <a:solidFill>
                  <a:srgbClr val="1A1A1A"/>
                </a:solidFill>
                <a:latin typeface="Quattrocento Sans" pitchFamily="34" charset="0"/>
                <a:ea typeface="Quattrocento Sans" pitchFamily="34" charset="-122"/>
                <a:cs typeface="Quattrocento Sans" pitchFamily="34" charset="-120"/>
              </a:rPr>
              <a:t>Sales Admin, Warehouse Staff, Salesman</a:t>
            </a:r>
            <a:endParaRPr lang="en-US" sz="1600" dirty="0"/>
          </a:p>
          <a:p>
            <a:pPr marL="254000" indent="-254000">
              <a:lnSpc>
                <a:spcPct val="100000"/>
              </a:lnSpc>
              <a:spcBef>
                <a:spcPts val="10"/>
              </a:spcBef>
              <a:buSzPct val="100000"/>
              <a:buChar char="•"/>
            </a:pPr>
            <a:r>
              <a:rPr lang="en-US" sz="3000" dirty="0">
                <a:solidFill>
                  <a:srgbClr val="1A1A1A"/>
                </a:solidFill>
                <a:latin typeface="Quattrocento Sans" pitchFamily="34" charset="0"/>
                <a:ea typeface="Quattrocento Sans" pitchFamily="34" charset="-122"/>
                <a:cs typeface="Quattrocento Sans" pitchFamily="34" charset="-120"/>
              </a:rPr>
              <a:t>Delivery Coordinator, Accounts Manager, Compliance Admin</a:t>
            </a:r>
            <a:endParaRPr lang="en-US" sz="1600" dirty="0"/>
          </a:p>
        </p:txBody>
      </p:sp>
      <p:sp>
        <p:nvSpPr>
          <p:cNvPr id="11" name="Text 8"/>
          <p:cNvSpPr/>
          <p:nvPr/>
        </p:nvSpPr>
        <p:spPr>
          <a:xfrm>
            <a:off x="17207865" y="1234440"/>
            <a:ext cx="3055747" cy="2618867"/>
          </a:xfrm>
          <a:prstGeom prst="rect">
            <a:avLst/>
          </a:prstGeom>
          <a:noFill/>
          <a:ln/>
        </p:spPr>
        <p:txBody>
          <a:bodyPr wrap="none" lIns="0" tIns="0" rIns="0" bIns="0" rtlCol="0" anchor="t"/>
          <a:lstStyle/>
          <a:p>
            <a:pPr algn="r">
              <a:lnSpc>
                <a:spcPct val="100000"/>
              </a:lnSpc>
            </a:pPr>
            <a:r>
              <a:rPr lang="en-US" sz="16000" dirty="0">
                <a:solidFill>
                  <a:srgbClr val="10B981"/>
                </a:solidFill>
                <a:latin typeface="Liter" pitchFamily="34" charset="0"/>
                <a:ea typeface="Liter" pitchFamily="34" charset="-122"/>
                <a:cs typeface="Liter" pitchFamily="34" charset="-120"/>
              </a:rPr>
              <a:t>04</a:t>
            </a:r>
            <a:endParaRPr lang="en-US" sz="1600" dirty="0"/>
          </a:p>
        </p:txBody>
      </p:sp>
      <p:sp>
        <p:nvSpPr>
          <p:cNvPr id="12" name="Text 9"/>
          <p:cNvSpPr/>
          <p:nvPr/>
        </p:nvSpPr>
        <p:spPr>
          <a:xfrm rot="-5400000">
            <a:off x="20701000" y="10445369"/>
            <a:ext cx="3429000" cy="446278"/>
          </a:xfrm>
          <a:prstGeom prst="rect">
            <a:avLst/>
          </a:prstGeom>
          <a:noFill/>
          <a:ln/>
        </p:spPr>
        <p:txBody>
          <a:bodyPr wrap="none" lIns="0" tIns="0" rIns="0" bIns="0" rtlCol="0" anchor="t"/>
          <a:lstStyle/>
          <a:p>
            <a:pPr>
              <a:lnSpc>
                <a:spcPct val="100000"/>
              </a:lnSpc>
            </a:pPr>
            <a:r>
              <a:rPr lang="en-US" sz="2000" spc="100" kern="0" dirty="0">
                <a:solidFill>
                  <a:srgbClr val="10B981"/>
                </a:solidFill>
                <a:latin typeface="Quattrocento Sans" pitchFamily="34" charset="0"/>
                <a:ea typeface="Quattrocento Sans" pitchFamily="34" charset="-122"/>
                <a:cs typeface="Quattrocento Sans" pitchFamily="34" charset="-120"/>
              </a:rPr>
              <a:t>GANGA MAXX</a:t>
            </a:r>
            <a:endParaRPr lang="en-US" sz="1600" dirty="0"/>
          </a:p>
        </p:txBody>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Shape 0"/>
          <p:cNvSpPr/>
          <p:nvPr/>
        </p:nvSpPr>
        <p:spPr>
          <a:xfrm>
            <a:off x="19685000" y="7620000"/>
            <a:ext cx="3810000" cy="3810000"/>
          </a:xfrm>
          <a:prstGeom prst="ellipse">
            <a:avLst/>
          </a:prstGeom>
          <a:solidFill>
            <a:srgbClr val="10B981">
              <a:alpha val="6275"/>
            </a:srgbClr>
          </a:solidFill>
          <a:ln/>
        </p:spPr>
      </p:sp>
      <p:sp>
        <p:nvSpPr>
          <p:cNvPr id="4" name="Shape 1"/>
          <p:cNvSpPr/>
          <p:nvPr/>
        </p:nvSpPr>
        <p:spPr>
          <a:xfrm>
            <a:off x="1485900" y="5080000"/>
            <a:ext cx="11049000" cy="25400"/>
          </a:xfrm>
          <a:prstGeom prst="rect">
            <a:avLst/>
          </a:prstGeom>
          <a:solidFill>
            <a:srgbClr val="10B981">
              <a:alpha val="18824"/>
            </a:srgbClr>
          </a:solidFill>
          <a:ln/>
        </p:spPr>
      </p:sp>
      <p:sp>
        <p:nvSpPr>
          <p:cNvPr id="5" name="Shape 2"/>
          <p:cNvSpPr/>
          <p:nvPr/>
        </p:nvSpPr>
        <p:spPr>
          <a:xfrm>
            <a:off x="19405600" y="11709400"/>
            <a:ext cx="3594100" cy="787400"/>
          </a:xfrm>
          <a:prstGeom prst="rect">
            <a:avLst/>
          </a:prstGeom>
          <a:solidFill>
            <a:srgbClr val="FFFFFF"/>
          </a:solidFill>
          <a:ln/>
        </p:spPr>
      </p:sp>
      <p:sp>
        <p:nvSpPr>
          <p:cNvPr id="6" name="Text 3"/>
          <p:cNvSpPr/>
          <p:nvPr/>
        </p:nvSpPr>
        <p:spPr>
          <a:xfrm>
            <a:off x="19342100" y="11869420"/>
            <a:ext cx="3683000" cy="446278"/>
          </a:xfrm>
          <a:prstGeom prst="rect">
            <a:avLst/>
          </a:prstGeom>
          <a:noFill/>
          <a:ln/>
        </p:spPr>
        <p:txBody>
          <a:bodyPr wrap="none" lIns="0" tIns="0" rIns="0" bIns="0" rtlCol="0" anchor="t"/>
          <a:lstStyle/>
          <a:p>
            <a:pPr algn="r">
              <a:lnSpc>
                <a:spcPct val="100000"/>
              </a:lnSpc>
            </a:pPr>
            <a:r>
              <a:rPr lang="en-US" sz="2000" spc="100" kern="0" dirty="0">
                <a:solidFill>
                  <a:srgbClr val="10B981"/>
                </a:solidFill>
                <a:latin typeface="Quattrocento Sans" pitchFamily="34" charset="0"/>
                <a:ea typeface="Quattrocento Sans" pitchFamily="34" charset="-122"/>
                <a:cs typeface="Quattrocento Sans" pitchFamily="34" charset="-120"/>
              </a:rPr>
              <a:t>GANGA MAXX INTERNSHIP</a:t>
            </a:r>
            <a:endParaRPr lang="en-US" sz="1600" dirty="0"/>
          </a:p>
        </p:txBody>
      </p:sp>
      <p:pic>
        <p:nvPicPr>
          <p:cNvPr id="7" name="Image 0" descr="https://kimi-img.moonshot.cn/pub/slides/okc/phgd7yq34ljws/mnt/agents/output/ganga_maxx_review1/images/6_GoBolt_AI_Powered_Proof_of_Deliver.png">    </p:cNvPr>
          <p:cNvPicPr>
            <a:picLocks noChangeAspect="1"/>
          </p:cNvPicPr>
          <p:nvPr/>
        </p:nvPicPr>
        <p:blipFill>
          <a:blip r:embed="rId1"/>
          <a:srcRect l="0" r="0" t="3014" b="3014"/>
          <a:stretch/>
        </p:blipFill>
        <p:spPr>
          <a:xfrm>
            <a:off x="15096363" y="2109824"/>
            <a:ext cx="7673594" cy="3605477"/>
          </a:xfrm>
          <a:prstGeom prst="rect">
            <a:avLst/>
          </a:prstGeom>
        </p:spPr>
      </p:pic>
      <p:sp>
        <p:nvSpPr>
          <p:cNvPr id="8" name="Text 4"/>
          <p:cNvSpPr/>
          <p:nvPr/>
        </p:nvSpPr>
        <p:spPr>
          <a:xfrm>
            <a:off x="1491996" y="1471295"/>
            <a:ext cx="11010773" cy="3260979"/>
          </a:xfrm>
          <a:prstGeom prst="rect">
            <a:avLst/>
          </a:prstGeom>
          <a:noFill/>
          <a:ln/>
        </p:spPr>
        <p:txBody>
          <a:bodyPr wrap="square" lIns="0" tIns="0" rIns="0" bIns="0" rtlCol="0" anchor="t"/>
          <a:lstStyle/>
          <a:p>
            <a:pPr>
              <a:lnSpc>
                <a:spcPct val="100000"/>
              </a:lnSpc>
            </a:pPr>
            <a:r>
              <a:rPr lang="en-US" sz="8000" dirty="0">
                <a:solidFill>
                  <a:srgbClr val="1A1A1A"/>
                </a:solidFill>
                <a:latin typeface="Liter" pitchFamily="34" charset="0"/>
                <a:ea typeface="Liter" pitchFamily="34" charset="-122"/>
                <a:cs typeface="Liter" pitchFamily="34" charset="-120"/>
              </a:rPr>
              <a:t>The Problem</a:t>
            </a:r>
            <a:endParaRPr lang="en-US" sz="1600" dirty="0"/>
          </a:p>
          <a:p>
            <a:pPr>
              <a:lnSpc>
                <a:spcPct val="100000"/>
              </a:lnSpc>
            </a:pPr>
            <a:r>
              <a:rPr lang="en-US" sz="8000" dirty="0">
                <a:solidFill>
                  <a:srgbClr val="1A1A1A"/>
                </a:solidFill>
                <a:latin typeface="Liter" pitchFamily="34" charset="0"/>
                <a:ea typeface="Liter" pitchFamily="34" charset="-122"/>
                <a:cs typeface="Liter" pitchFamily="34" charset="-120"/>
              </a:rPr>
              <a:t>Statement</a:t>
            </a:r>
            <a:endParaRPr lang="en-US" sz="1600" dirty="0"/>
          </a:p>
        </p:txBody>
      </p:sp>
      <p:sp>
        <p:nvSpPr>
          <p:cNvPr id="9" name="Text 5"/>
          <p:cNvSpPr/>
          <p:nvPr/>
        </p:nvSpPr>
        <p:spPr>
          <a:xfrm>
            <a:off x="1919076" y="4436741"/>
            <a:ext cx="10615824" cy="591066"/>
          </a:xfrm>
          <a:prstGeom prst="rect">
            <a:avLst/>
          </a:prstGeom>
          <a:noFill/>
          <a:ln/>
        </p:spPr>
        <p:txBody>
          <a:bodyPr wrap="square" lIns="0" tIns="0" rIns="0" bIns="0" rtlCol="0" anchor="t"/>
          <a:lstStyle/>
          <a:p>
            <a:pPr>
              <a:lnSpc>
                <a:spcPct val="100000"/>
              </a:lnSpc>
            </a:pPr>
            <a:r>
              <a:rPr lang="en-US" sz="3900" dirty="0">
                <a:solidFill>
                  <a:srgbClr val="10B981"/>
                </a:solidFill>
                <a:latin typeface="Liter" pitchFamily="34" charset="0"/>
                <a:ea typeface="Liter" pitchFamily="34" charset="-122"/>
                <a:cs typeface="Liter" pitchFamily="34" charset="-120"/>
              </a:rPr>
              <a:t>Current Situation</a:t>
            </a:r>
            <a:endParaRPr lang="en-US" sz="1600" dirty="0"/>
          </a:p>
        </p:txBody>
      </p:sp>
      <p:sp>
        <p:nvSpPr>
          <p:cNvPr id="10" name="Text 6"/>
          <p:cNvSpPr/>
          <p:nvPr/>
        </p:nvSpPr>
        <p:spPr>
          <a:xfrm>
            <a:off x="1649341" y="5807159"/>
            <a:ext cx="12988826" cy="7401965"/>
          </a:xfrm>
          <a:prstGeom prst="rect">
            <a:avLst/>
          </a:prstGeom>
          <a:noFill/>
          <a:ln/>
        </p:spPr>
        <p:txBody>
          <a:bodyPr wrap="square" lIns="0" tIns="0" rIns="0" bIns="0" rtlCol="0" anchor="t"/>
          <a:lstStyle/>
          <a:p>
            <a:pPr>
              <a:lnSpc>
                <a:spcPct val="100000"/>
              </a:lnSpc>
            </a:pPr>
            <a:r>
              <a:rPr lang="en-US" sz="2800" dirty="0">
                <a:solidFill>
                  <a:srgbClr val="1A1A1A"/>
                </a:solidFill>
                <a:latin typeface="Quattrocento Sans" pitchFamily="34" charset="0"/>
                <a:ea typeface="Quattrocento Sans" pitchFamily="34" charset="-122"/>
                <a:cs typeface="Quattrocento Sans" pitchFamily="34" charset="-120"/>
              </a:rPr>
              <a:t>Ganga Maxx currently manages bulk institutional deliveries through a </a:t>
            </a:r>
            <a:pPr>
              <a:lnSpc>
                <a:spcPct val="100000"/>
              </a:lnSpc>
            </a:pPr>
            <a:r>
              <a:rPr lang="en-US" sz="2800" b="1" dirty="0">
                <a:solidFill>
                  <a:srgbClr val="1A1A1A"/>
                </a:solidFill>
                <a:latin typeface="Quattrocento Sans" pitchFamily="34" charset="0"/>
                <a:ea typeface="Quattrocento Sans" pitchFamily="34" charset="-122"/>
                <a:cs typeface="Quattrocento Sans" pitchFamily="34" charset="-120"/>
              </a:rPr>
              <a:t>manual process</a:t>
            </a:r>
            <a:pPr>
              <a:lnSpc>
                <a:spcPct val="100000"/>
              </a:lnSpc>
            </a:pPr>
            <a:r>
              <a:rPr lang="en-US" sz="2800" dirty="0">
                <a:solidFill>
                  <a:srgbClr val="1A1A1A"/>
                </a:solidFill>
                <a:latin typeface="Quattrocento Sans" pitchFamily="34" charset="0"/>
                <a:ea typeface="Quattrocento Sans" pitchFamily="34" charset="-122"/>
                <a:cs typeface="Quattrocento Sans" pitchFamily="34" charset="-120"/>
              </a:rPr>
              <a:t>:</a:t>
            </a:r>
            <a:endParaRPr lang="en-US" sz="1600" dirty="0"/>
          </a:p>
          <a:p>
            <a:pPr marL="254000" indent="-254000">
              <a:lnSpc>
                <a:spcPct val="100000"/>
              </a:lnSpc>
              <a:spcBef>
                <a:spcPts val="10"/>
              </a:spcBef>
              <a:buSzPct val="100000"/>
              <a:buChar char="•"/>
            </a:pPr>
            <a:r>
              <a:rPr lang="en-US" sz="2800" dirty="0">
                <a:solidFill>
                  <a:srgbClr val="1A1A1A"/>
                </a:solidFill>
                <a:latin typeface="Quattrocento Sans" pitchFamily="34" charset="0"/>
                <a:ea typeface="Quattrocento Sans" pitchFamily="34" charset="-122"/>
                <a:cs typeface="Quattrocento Sans" pitchFamily="34" charset="-120"/>
              </a:rPr>
              <a:t>Phone calls to coordinate delivery times</a:t>
            </a:r>
            <a:endParaRPr lang="en-US" sz="1600" dirty="0"/>
          </a:p>
          <a:p>
            <a:pPr marL="254000" indent="-254000">
              <a:lnSpc>
                <a:spcPct val="100000"/>
              </a:lnSpc>
              <a:spcBef>
                <a:spcPts val="10"/>
              </a:spcBef>
              <a:buSzPct val="100000"/>
              <a:buChar char="•"/>
            </a:pPr>
            <a:r>
              <a:rPr lang="en-US" sz="2800" dirty="0">
                <a:solidFill>
                  <a:srgbClr val="1A1A1A"/>
                </a:solidFill>
                <a:latin typeface="Quattrocento Sans" pitchFamily="34" charset="0"/>
                <a:ea typeface="Quattrocento Sans" pitchFamily="34" charset="-122"/>
                <a:cs typeface="Quattrocento Sans" pitchFamily="34" charset="-120"/>
              </a:rPr>
              <a:t>WhatsApp messages for quantity updates                                                                                                                </a:t>
            </a:r>
            <a:endParaRPr lang="en-US" sz="1600" dirty="0"/>
          </a:p>
          <a:p>
            <a:pPr marL="254000" indent="-254000">
              <a:lnSpc>
                <a:spcPct val="100000"/>
              </a:lnSpc>
              <a:spcBef>
                <a:spcPts val="10"/>
              </a:spcBef>
              <a:buSzPct val="100000"/>
              <a:buChar char="•"/>
            </a:pPr>
            <a:r>
              <a:rPr lang="en-US" sz="2800" dirty="0">
                <a:solidFill>
                  <a:srgbClr val="1A1A1A"/>
                </a:solidFill>
                <a:latin typeface="Quattrocento Sans" pitchFamily="34" charset="0"/>
                <a:ea typeface="Quattrocento Sans" pitchFamily="34" charset="-122"/>
                <a:cs typeface="Quattrocento Sans" pitchFamily="34" charset="-120"/>
              </a:rPr>
              <a:t>Spreadsheets to track deliveries</a:t>
            </a:r>
            <a:endParaRPr lang="en-US" sz="1600" dirty="0"/>
          </a:p>
          <a:p>
            <a:pPr>
              <a:lnSpc>
                <a:spcPct val="100000"/>
              </a:lnSpc>
            </a:pPr>
            <a:r>
              <a:rPr lang="en-US" sz="2800" b="1" dirty="0">
                <a:solidFill>
                  <a:srgbClr val="1A1A1A"/>
                </a:solidFill>
                <a:latin typeface="Quattrocento Sans" pitchFamily="34" charset="0"/>
                <a:ea typeface="Quattrocento Sans" pitchFamily="34" charset="-122"/>
                <a:cs typeface="Quattrocento Sans" pitchFamily="34" charset="-120"/>
              </a:rPr>
              <a:t>Key pain points:</a:t>
            </a:r>
            <a:endParaRPr lang="en-US" sz="1600" dirty="0"/>
          </a:p>
          <a:p>
            <a:pPr marL="254000" indent="-254000">
              <a:lnSpc>
                <a:spcPct val="100000"/>
              </a:lnSpc>
              <a:spcBef>
                <a:spcPts val="10"/>
              </a:spcBef>
              <a:buSzPct val="100000"/>
              <a:buChar char="•"/>
            </a:pPr>
            <a:r>
              <a:rPr lang="en-US" sz="2800" dirty="0">
                <a:solidFill>
                  <a:srgbClr val="1A1A1A"/>
                </a:solidFill>
                <a:latin typeface="Quattrocento Sans" pitchFamily="34" charset="0"/>
                <a:ea typeface="Quattrocento Sans" pitchFamily="34" charset="-122"/>
                <a:cs typeface="Quattrocento Sans" pitchFamily="34" charset="-120"/>
              </a:rPr>
              <a:t>No defined delivery sequence \u2014 random stop order</a:t>
            </a:r>
            <a:endParaRPr lang="en-US" sz="1600" dirty="0"/>
          </a:p>
          <a:p>
            <a:pPr marL="254000" indent="-254000">
              <a:lnSpc>
                <a:spcPct val="100000"/>
              </a:lnSpc>
              <a:spcBef>
                <a:spcPts val="10"/>
              </a:spcBef>
              <a:buSzPct val="100000"/>
              <a:buChar char="•"/>
            </a:pPr>
            <a:r>
              <a:rPr lang="en-US" sz="2800" dirty="0">
                <a:solidFill>
                  <a:srgbClr val="1A1A1A"/>
                </a:solidFill>
                <a:latin typeface="Quattrocento Sans" pitchFamily="34" charset="0"/>
                <a:ea typeface="Quattrocento Sans" pitchFamily="34" charset="-122"/>
                <a:cs typeface="Quattrocento Sans" pitchFamily="34" charset="-120"/>
              </a:rPr>
              <a:t>No real-time tracking for the coordinator</a:t>
            </a:r>
            <a:endParaRPr lang="en-US" sz="1600" dirty="0"/>
          </a:p>
          <a:p>
            <a:pPr marL="254000" indent="-254000">
              <a:lnSpc>
                <a:spcPct val="100000"/>
              </a:lnSpc>
              <a:spcBef>
                <a:spcPts val="10"/>
              </a:spcBef>
              <a:buSzPct val="100000"/>
              <a:buChar char="•"/>
            </a:pPr>
            <a:r>
              <a:rPr lang="en-US" sz="2800" dirty="0">
                <a:solidFill>
                  <a:srgbClr val="1A1A1A"/>
                </a:solidFill>
                <a:latin typeface="Quattrocento Sans" pitchFamily="34" charset="0"/>
                <a:ea typeface="Quattrocento Sans" pitchFamily="34" charset="-122"/>
                <a:cs typeface="Quattrocento Sans" pitchFamily="34" charset="-120"/>
              </a:rPr>
              <a:t>Wrong quantities to wrong institutions</a:t>
            </a:r>
            <a:endParaRPr lang="en-US" sz="1600" dirty="0"/>
          </a:p>
          <a:p>
            <a:pPr>
              <a:lnSpc>
                <a:spcPct val="100000"/>
              </a:lnSpc>
            </a:pPr>
            <a:r>
              <a:rPr lang="en-US" sz="2800" b="1" dirty="0">
                <a:solidFill>
                  <a:srgbClr val="1A1A1A"/>
                </a:solidFill>
                <a:latin typeface="Quattrocento Sans" pitchFamily="34" charset="0"/>
                <a:ea typeface="Quattrocento Sans" pitchFamily="34" charset="-122"/>
                <a:cs typeface="Quattrocento Sans" pitchFamily="34" charset="-120"/>
              </a:rPr>
              <a:t>Affected:</a:t>
            </a:r>
            <a:pPr>
              <a:lnSpc>
                <a:spcPct val="100000"/>
              </a:lnSpc>
            </a:pPr>
            <a:r>
              <a:rPr lang="en-US" sz="2800" dirty="0">
                <a:solidFill>
                  <a:srgbClr val="1A1A1A"/>
                </a:solidFill>
                <a:latin typeface="Quattrocento Sans" pitchFamily="34" charset="0"/>
                <a:ea typeface="Quattrocento Sans" pitchFamily="34" charset="-122"/>
                <a:cs typeface="Quattrocento Sans" pitchFamily="34" charset="-120"/>
              </a:rPr>
              <a:t> Delivery Coordinator, Warehouse Staff, institutional customers.</a:t>
            </a:r>
            <a:endParaRPr lang="en-US" sz="1600" dirty="0"/>
          </a:p>
          <a:p>
            <a:pPr>
              <a:lnSpc>
                <a:spcPct val="100000"/>
              </a:lnSpc>
            </a:pPr>
            <a:r>
              <a:rPr lang="en-US" sz="2800" b="1" dirty="0">
                <a:solidFill>
                  <a:srgbClr val="1A1A1A"/>
                </a:solidFill>
                <a:latin typeface="Quattrocento Sans" pitchFamily="34" charset="0"/>
                <a:ea typeface="Quattrocento Sans" pitchFamily="34" charset="-122"/>
                <a:cs typeface="Quattrocento Sans" pitchFamily="34" charset="-120"/>
              </a:rPr>
              <a:t>Scale:</a:t>
            </a:r>
            <a:pPr>
              <a:lnSpc>
                <a:spcPct val="100000"/>
              </a:lnSpc>
            </a:pPr>
            <a:r>
              <a:rPr lang="en-US" sz="2800" dirty="0">
                <a:solidFill>
                  <a:srgbClr val="1A1A1A"/>
                </a:solidFill>
                <a:latin typeface="Quattrocento Sans" pitchFamily="34" charset="0"/>
                <a:ea typeface="Quattrocento Sans" pitchFamily="34" charset="-122"/>
                <a:cs typeface="Quattrocento Sans" pitchFamily="34" charset="-120"/>
              </a:rPr>
              <a:t> Multiple institutions per run, high SKU volume, complex daily coordination.</a:t>
            </a:r>
            <a:endParaRPr lang="en-US" sz="1600" dirty="0"/>
          </a:p>
        </p:txBody>
      </p:sp>
      <p:sp>
        <p:nvSpPr>
          <p:cNvPr id="11" name="Text 7"/>
          <p:cNvSpPr/>
          <p:nvPr/>
        </p:nvSpPr>
        <p:spPr>
          <a:xfrm>
            <a:off x="15900849" y="6858000"/>
            <a:ext cx="7124251" cy="4184886"/>
          </a:xfrm>
          <a:prstGeom prst="rect">
            <a:avLst/>
          </a:prstGeom>
          <a:noFill/>
          <a:ln/>
        </p:spPr>
        <p:txBody>
          <a:bodyPr wrap="square" lIns="91440" tIns="45720" rIns="91440" bIns="45720" rtlCol="0" anchor="t"/>
          <a:lstStyle/>
          <a:p>
            <a:pPr>
              <a:lnSpc>
                <a:spcPct val="100000"/>
              </a:lnSpc>
            </a:pPr>
            <a:r>
              <a:rPr lang="en-US" sz="3000" dirty="0">
                <a:solidFill>
                  <a:srgbClr val="333333"/>
                </a:solidFill>
                <a:latin typeface="微软雅黑" pitchFamily="34" charset="0"/>
                <a:ea typeface="微软雅黑" pitchFamily="34" charset="-122"/>
                <a:cs typeface="微软雅黑" pitchFamily="34" charset="-120"/>
              </a:rPr>
              <a:t> </a:t>
            </a:r>
            <a:pPr>
              <a:lnSpc>
                <a:spcPct val="100000"/>
              </a:lnSpc>
            </a:pPr>
            <a:r>
              <a:rPr lang="en-US" sz="3000" dirty="0">
                <a:solidFill>
                  <a:srgbClr val="000000"/>
                </a:solidFill>
                <a:latin typeface="Times New Roman" pitchFamily="34" charset="0"/>
                <a:ea typeface="Times New Roman" pitchFamily="34" charset="-122"/>
                <a:cs typeface="Times New Roman" pitchFamily="34" charset="-120"/>
              </a:rPr>
              <a:t>- Wasted time for the team</a:t>
            </a:r>
            <a:endParaRPr lang="en-US" sz="1600" dirty="0"/>
          </a:p>
          <a:p>
            <a:pPr>
              <a:lnSpc>
                <a:spcPct val="100000"/>
              </a:lnSpc>
            </a:pPr>
            <a:r>
              <a:rPr lang="en-US" sz="3000" dirty="0">
                <a:solidFill>
                  <a:srgbClr val="000000"/>
                </a:solidFill>
                <a:latin typeface="Times New Roman" pitchFamily="34" charset="0"/>
                <a:ea typeface="Times New Roman" pitchFamily="34" charset="-122"/>
                <a:cs typeface="Times New Roman" pitchFamily="34" charset="-120"/>
              </a:rPr>
              <a:t>- Slow response to important customers or priority cases</a:t>
            </a:r>
            <a:endParaRPr lang="en-US" sz="1600" dirty="0"/>
          </a:p>
          <a:p>
            <a:pPr>
              <a:lnSpc>
                <a:spcPct val="100000"/>
              </a:lnSpc>
            </a:pPr>
            <a:r>
              <a:rPr lang="en-US" sz="3000" dirty="0">
                <a:solidFill>
                  <a:srgbClr val="000000"/>
                </a:solidFill>
                <a:latin typeface="Times New Roman" pitchFamily="34" charset="0"/>
                <a:ea typeface="Times New Roman" pitchFamily="34" charset="-122"/>
                <a:cs typeface="Times New Roman" pitchFamily="34" charset="-120"/>
              </a:rPr>
              <a:t>- Missed revenue opportunities because follow-ups are delayed</a:t>
            </a:r>
            <a:endParaRPr lang="en-US" sz="1600" dirty="0"/>
          </a:p>
          <a:p>
            <a:pPr>
              <a:lnSpc>
                <a:spcPct val="100000"/>
              </a:lnSpc>
            </a:pPr>
            <a:r>
              <a:rPr lang="en-US" sz="3000" dirty="0">
                <a:solidFill>
                  <a:srgbClr val="000000"/>
                </a:solidFill>
                <a:latin typeface="Times New Roman" pitchFamily="34" charset="0"/>
                <a:ea typeface="Times New Roman" pitchFamily="34" charset="-122"/>
                <a:cs typeface="Times New Roman" pitchFamily="34" charset="-120"/>
              </a:rPr>
              <a:t>- No clean system to track progress, ownership, and history</a:t>
            </a:r>
            <a:endParaRPr lang="en-US" sz="1600" dirty="0"/>
          </a:p>
        </p:txBody>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Shape 0"/>
          <p:cNvSpPr/>
          <p:nvPr/>
        </p:nvSpPr>
        <p:spPr>
          <a:xfrm>
            <a:off x="20320000" y="10160000"/>
            <a:ext cx="3175000" cy="3175000"/>
          </a:xfrm>
          <a:prstGeom prst="ellipse">
            <a:avLst/>
          </a:prstGeom>
          <a:solidFill>
            <a:srgbClr val="10B981">
              <a:alpha val="6275"/>
            </a:srgbClr>
          </a:solidFill>
          <a:ln/>
        </p:spPr>
      </p:sp>
      <p:sp>
        <p:nvSpPr>
          <p:cNvPr id="4" name="Shape 1"/>
          <p:cNvSpPr/>
          <p:nvPr/>
        </p:nvSpPr>
        <p:spPr>
          <a:xfrm>
            <a:off x="12319000" y="1778000"/>
            <a:ext cx="25400" cy="10414000"/>
          </a:xfrm>
          <a:prstGeom prst="rect">
            <a:avLst/>
          </a:prstGeom>
          <a:solidFill>
            <a:srgbClr val="1A1A1A">
              <a:alpha val="8235"/>
            </a:srgbClr>
          </a:solidFill>
          <a:ln/>
        </p:spPr>
      </p:sp>
      <p:sp>
        <p:nvSpPr>
          <p:cNvPr id="5" name="Shape 2"/>
          <p:cNvSpPr/>
          <p:nvPr/>
        </p:nvSpPr>
        <p:spPr>
          <a:xfrm>
            <a:off x="762000" y="11747500"/>
            <a:ext cx="4318000" cy="635000"/>
          </a:xfrm>
          <a:prstGeom prst="rect">
            <a:avLst/>
          </a:prstGeom>
          <a:solidFill>
            <a:srgbClr val="FFFFFF"/>
          </a:solidFill>
          <a:ln/>
        </p:spPr>
      </p:sp>
      <p:sp>
        <p:nvSpPr>
          <p:cNvPr id="6" name="Text 3"/>
          <p:cNvSpPr/>
          <p:nvPr/>
        </p:nvSpPr>
        <p:spPr>
          <a:xfrm>
            <a:off x="1016000" y="11928475"/>
            <a:ext cx="3937000" cy="446278"/>
          </a:xfrm>
          <a:prstGeom prst="rect">
            <a:avLst/>
          </a:prstGeom>
          <a:noFill/>
          <a:ln/>
        </p:spPr>
        <p:txBody>
          <a:bodyPr wrap="none" lIns="0" tIns="0" rIns="0" bIns="0" rtlCol="0" anchor="t"/>
          <a:lstStyle/>
          <a:p>
            <a:pPr>
              <a:lnSpc>
                <a:spcPct val="100000"/>
              </a:lnSpc>
            </a:pPr>
            <a:r>
              <a:rPr lang="en-US" sz="2000" spc="100" kern="0" dirty="0">
                <a:solidFill>
                  <a:srgbClr val="10B981"/>
                </a:solidFill>
                <a:latin typeface="Quattrocento Sans" pitchFamily="34" charset="0"/>
                <a:ea typeface="Quattrocento Sans" pitchFamily="34" charset="-122"/>
                <a:cs typeface="Quattrocento Sans" pitchFamily="34" charset="-120"/>
              </a:rPr>
              <a:t>GANGA MAXX</a:t>
            </a:r>
            <a:endParaRPr lang="en-US" sz="1600" dirty="0"/>
          </a:p>
        </p:txBody>
      </p:sp>
      <p:sp>
        <p:nvSpPr>
          <p:cNvPr id="7" name="Text 4"/>
          <p:cNvSpPr/>
          <p:nvPr/>
        </p:nvSpPr>
        <p:spPr>
          <a:xfrm>
            <a:off x="1297432" y="1753743"/>
            <a:ext cx="8539099" cy="754761"/>
          </a:xfrm>
          <a:prstGeom prst="rect">
            <a:avLst/>
          </a:prstGeom>
          <a:noFill/>
          <a:ln/>
        </p:spPr>
        <p:txBody>
          <a:bodyPr wrap="square" lIns="0" tIns="0" rIns="0" bIns="0" rtlCol="0" anchor="t"/>
          <a:lstStyle/>
          <a:p>
            <a:pPr>
              <a:lnSpc>
                <a:spcPct val="100000"/>
              </a:lnSpc>
            </a:pPr>
            <a:r>
              <a:rPr lang="en-US" sz="4000" dirty="0">
                <a:solidFill>
                  <a:srgbClr val="1A1A1A"/>
                </a:solidFill>
                <a:latin typeface="Liter" pitchFamily="34" charset="0"/>
                <a:ea typeface="Liter" pitchFamily="34" charset="-122"/>
                <a:cs typeface="Liter" pitchFamily="34" charset="-120"/>
              </a:rPr>
              <a:t>Impact &amp; Gap</a:t>
            </a:r>
            <a:endParaRPr lang="en-US" sz="1600" dirty="0"/>
          </a:p>
        </p:txBody>
      </p:sp>
      <p:sp>
        <p:nvSpPr>
          <p:cNvPr id="8" name="Text 5"/>
          <p:cNvSpPr/>
          <p:nvPr/>
        </p:nvSpPr>
        <p:spPr>
          <a:xfrm>
            <a:off x="2540000" y="3663442"/>
            <a:ext cx="6350000" cy="2618867"/>
          </a:xfrm>
          <a:prstGeom prst="rect">
            <a:avLst/>
          </a:prstGeom>
          <a:noFill/>
          <a:ln/>
        </p:spPr>
        <p:txBody>
          <a:bodyPr wrap="none" lIns="0" tIns="0" rIns="0" bIns="0" rtlCol="0" anchor="t"/>
          <a:lstStyle/>
          <a:p>
            <a:pPr>
              <a:lnSpc>
                <a:spcPct val="100000"/>
              </a:lnSpc>
            </a:pPr>
            <a:r>
              <a:rPr lang="en-US" sz="16000" dirty="0">
                <a:solidFill>
                  <a:srgbClr val="10B981"/>
                </a:solidFill>
                <a:latin typeface="Liter" pitchFamily="34" charset="0"/>
                <a:ea typeface="Liter" pitchFamily="34" charset="-122"/>
                <a:cs typeface="Liter" pitchFamily="34" charset="-120"/>
              </a:rPr>
              <a:t>06</a:t>
            </a:r>
            <a:endParaRPr lang="en-US" sz="1600" dirty="0"/>
          </a:p>
        </p:txBody>
      </p:sp>
      <p:sp>
        <p:nvSpPr>
          <p:cNvPr id="9" name="Text 6"/>
          <p:cNvSpPr/>
          <p:nvPr/>
        </p:nvSpPr>
        <p:spPr>
          <a:xfrm>
            <a:off x="1297432" y="6604000"/>
            <a:ext cx="10160000" cy="1905000"/>
          </a:xfrm>
          <a:prstGeom prst="rect">
            <a:avLst/>
          </a:prstGeom>
          <a:noFill/>
          <a:ln/>
        </p:spPr>
        <p:txBody>
          <a:bodyPr wrap="square" lIns="0" tIns="0" rIns="0" bIns="0" rtlCol="0" anchor="t"/>
          <a:lstStyle/>
          <a:p>
            <a:pPr>
              <a:lnSpc>
                <a:spcPct val="100000"/>
              </a:lnSpc>
            </a:pPr>
            <a:r>
              <a:rPr lang="en-US" sz="3200" i="1" dirty="0">
                <a:solidFill>
                  <a:srgbClr val="1A1A1A"/>
                </a:solidFill>
                <a:latin typeface="Quattrocento Sans" pitchFamily="34" charset="0"/>
                <a:ea typeface="Quattrocento Sans" pitchFamily="34" charset="-122"/>
                <a:cs typeface="Quattrocento Sans" pitchFamily="34" charset="-120"/>
              </a:rPr>
              <a:t>"Currently, the Delivery Coordinator faces incorrect and untracked deliveries when managing multi-institution bulk runs, resulting in return trips, customer complaints, and revenue loss. This project will build a web-based last-mile delivery tracker so that every delivery is sequenced, tracked, and verified with digital proof."</a:t>
            </a:r>
            <a:endParaRPr lang="en-US" sz="1600" dirty="0"/>
          </a:p>
        </p:txBody>
      </p:sp>
      <p:sp>
        <p:nvSpPr>
          <p:cNvPr id="10" name="Text 7"/>
          <p:cNvSpPr/>
          <p:nvPr/>
        </p:nvSpPr>
        <p:spPr>
          <a:xfrm>
            <a:off x="12949936" y="2159889"/>
            <a:ext cx="980186" cy="580771"/>
          </a:xfrm>
          <a:prstGeom prst="rect">
            <a:avLst/>
          </a:prstGeom>
          <a:noFill/>
          <a:ln/>
        </p:spPr>
        <p:txBody>
          <a:bodyPr wrap="none" lIns="0" tIns="0" rIns="0" bIns="0" rtlCol="0" anchor="t"/>
          <a:lstStyle/>
          <a:p>
            <a:pPr>
              <a:lnSpc>
                <a:spcPct val="100000"/>
              </a:lnSpc>
            </a:pPr>
            <a:r>
              <a:rPr lang="en-US" sz="2930" dirty="0">
                <a:solidFill>
                  <a:srgbClr val="1A1A1A"/>
                </a:solidFill>
                <a:latin typeface="Liter" pitchFamily="34" charset="0"/>
                <a:ea typeface="Liter" pitchFamily="34" charset="-122"/>
                <a:cs typeface="Liter" pitchFamily="34" charset="-120"/>
              </a:rPr>
              <a:t>01</a:t>
            </a:r>
            <a:endParaRPr lang="en-US" sz="1600" dirty="0"/>
          </a:p>
        </p:txBody>
      </p:sp>
      <p:sp>
        <p:nvSpPr>
          <p:cNvPr id="11" name="Text 8"/>
          <p:cNvSpPr/>
          <p:nvPr/>
        </p:nvSpPr>
        <p:spPr>
          <a:xfrm>
            <a:off x="14036675" y="2004441"/>
            <a:ext cx="8328660" cy="647192"/>
          </a:xfrm>
          <a:prstGeom prst="rect">
            <a:avLst/>
          </a:prstGeom>
          <a:noFill/>
          <a:ln/>
        </p:spPr>
        <p:txBody>
          <a:bodyPr wrap="square" lIns="0" tIns="0" rIns="0" bIns="0" rtlCol="0" anchor="t"/>
          <a:lstStyle/>
          <a:p>
            <a:pPr>
              <a:lnSpc>
                <a:spcPct val="100000"/>
              </a:lnSpc>
            </a:pPr>
            <a:r>
              <a:rPr lang="en-US" sz="3330" dirty="0">
                <a:solidFill>
                  <a:srgbClr val="10B981"/>
                </a:solidFill>
                <a:latin typeface="Quattrocento Sans" pitchFamily="34" charset="0"/>
                <a:ea typeface="Quattrocento Sans" pitchFamily="34" charset="-122"/>
                <a:cs typeface="Quattrocento Sans" pitchFamily="34" charset="-120"/>
              </a:rPr>
              <a:t>Consequences</a:t>
            </a:r>
            <a:endParaRPr lang="en-US" sz="1600" dirty="0"/>
          </a:p>
        </p:txBody>
      </p:sp>
      <p:sp>
        <p:nvSpPr>
          <p:cNvPr id="12" name="Text 9"/>
          <p:cNvSpPr/>
          <p:nvPr/>
        </p:nvSpPr>
        <p:spPr>
          <a:xfrm>
            <a:off x="14036675" y="2742057"/>
            <a:ext cx="8328660" cy="1660144"/>
          </a:xfrm>
          <a:prstGeom prst="rect">
            <a:avLst/>
          </a:prstGeom>
          <a:noFill/>
          <a:ln/>
        </p:spPr>
        <p:txBody>
          <a:bodyPr wrap="square" lIns="0" tIns="0" rIns="0" bIns="0" rtlCol="0" anchor="t"/>
          <a:lstStyle/>
          <a:p>
            <a:pPr>
              <a:lnSpc>
                <a:spcPct val="100000"/>
              </a:lnSpc>
            </a:pPr>
            <a:r>
              <a:rPr lang="en-US" sz="2800" dirty="0">
                <a:solidFill>
                  <a:srgbClr val="1A1A1A"/>
                </a:solidFill>
                <a:latin typeface="Quattrocento Sans" pitchFamily="34" charset="0"/>
                <a:ea typeface="Quattrocento Sans" pitchFamily="34" charset="-122"/>
                <a:cs typeface="Quattrocento Sans" pitchFamily="34" charset="-120"/>
              </a:rPr>
              <a:t>Return trips, customer complaints, missed deliveries, and direct revenue loss. Each failed delivery costs time, fuel, and customer trust.</a:t>
            </a:r>
            <a:endParaRPr lang="en-US" sz="1600" dirty="0"/>
          </a:p>
        </p:txBody>
      </p:sp>
      <p:sp>
        <p:nvSpPr>
          <p:cNvPr id="13" name="Text 10"/>
          <p:cNvSpPr/>
          <p:nvPr/>
        </p:nvSpPr>
        <p:spPr>
          <a:xfrm>
            <a:off x="12949936" y="5461000"/>
            <a:ext cx="980186" cy="580771"/>
          </a:xfrm>
          <a:prstGeom prst="rect">
            <a:avLst/>
          </a:prstGeom>
          <a:noFill/>
          <a:ln/>
        </p:spPr>
        <p:txBody>
          <a:bodyPr wrap="none" lIns="0" tIns="0" rIns="0" bIns="0" rtlCol="0" anchor="t"/>
          <a:lstStyle/>
          <a:p>
            <a:pPr>
              <a:lnSpc>
                <a:spcPct val="100000"/>
              </a:lnSpc>
            </a:pPr>
            <a:r>
              <a:rPr lang="en-US" sz="2930" dirty="0">
                <a:solidFill>
                  <a:srgbClr val="1A1A1A"/>
                </a:solidFill>
                <a:latin typeface="Liter" pitchFamily="34" charset="0"/>
                <a:ea typeface="Liter" pitchFamily="34" charset="-122"/>
                <a:cs typeface="Liter" pitchFamily="34" charset="-120"/>
              </a:rPr>
              <a:t>02</a:t>
            </a:r>
            <a:endParaRPr lang="en-US" sz="1600" dirty="0"/>
          </a:p>
        </p:txBody>
      </p:sp>
      <p:sp>
        <p:nvSpPr>
          <p:cNvPr id="14" name="Text 11"/>
          <p:cNvSpPr/>
          <p:nvPr/>
        </p:nvSpPr>
        <p:spPr>
          <a:xfrm>
            <a:off x="14036675" y="5334000"/>
            <a:ext cx="8328660" cy="647192"/>
          </a:xfrm>
          <a:prstGeom prst="rect">
            <a:avLst/>
          </a:prstGeom>
          <a:noFill/>
          <a:ln/>
        </p:spPr>
        <p:txBody>
          <a:bodyPr wrap="square" lIns="0" tIns="0" rIns="0" bIns="0" rtlCol="0" anchor="t"/>
          <a:lstStyle/>
          <a:p>
            <a:pPr>
              <a:lnSpc>
                <a:spcPct val="100000"/>
              </a:lnSpc>
            </a:pPr>
            <a:r>
              <a:rPr lang="en-US" sz="3330" dirty="0">
                <a:solidFill>
                  <a:srgbClr val="10B981"/>
                </a:solidFill>
                <a:latin typeface="Quattrocento Sans" pitchFamily="34" charset="0"/>
                <a:ea typeface="Quattrocento Sans" pitchFamily="34" charset="-122"/>
                <a:cs typeface="Quattrocento Sans" pitchFamily="34" charset="-120"/>
              </a:rPr>
              <a:t>The Gap</a:t>
            </a:r>
            <a:endParaRPr lang="en-US" sz="1600" dirty="0"/>
          </a:p>
        </p:txBody>
      </p:sp>
      <p:sp>
        <p:nvSpPr>
          <p:cNvPr id="15" name="Text 12"/>
          <p:cNvSpPr/>
          <p:nvPr/>
        </p:nvSpPr>
        <p:spPr>
          <a:xfrm>
            <a:off x="14036675" y="6070600"/>
            <a:ext cx="8328660" cy="2540000"/>
          </a:xfrm>
          <a:prstGeom prst="rect">
            <a:avLst/>
          </a:prstGeom>
          <a:noFill/>
          <a:ln/>
        </p:spPr>
        <p:txBody>
          <a:bodyPr wrap="square" lIns="0" tIns="0" rIns="0" bIns="0" rtlCol="0" anchor="t"/>
          <a:lstStyle/>
          <a:p>
            <a:pPr>
              <a:lnSpc>
                <a:spcPct val="100000"/>
              </a:lnSpc>
            </a:pPr>
            <a:r>
              <a:rPr lang="en-US" sz="2800" dirty="0">
                <a:solidFill>
                  <a:srgbClr val="1A1A1A"/>
                </a:solidFill>
                <a:latin typeface="Quattrocento Sans" pitchFamily="34" charset="0"/>
                <a:ea typeface="Quattrocento Sans" pitchFamily="34" charset="-122"/>
                <a:cs typeface="Quattrocento Sans" pitchFamily="34" charset="-120"/>
              </a:rPr>
              <a:t>No digital proof of delivery. No assignment tracking. No failed-delivery reason capture. The coordinator has zero visibility once the vehicle leaves the warehouse.</a:t>
            </a:r>
            <a:pPr>
              <a:lnSpc>
                <a:spcPct val="100000"/>
              </a:lnSpc>
            </a:pPr>
            <a:r>
              <a:rPr lang="en-US" sz="1600" dirty="0">
                <a:solidFill>
                  <a:srgbClr val="1A1A1A"/>
                </a:solidFill>
                <a:latin typeface="Times New Roman" pitchFamily="34" charset="0"/>
                <a:ea typeface="Times New Roman" pitchFamily="34" charset="-122"/>
                <a:cs typeface="Times New Roman" pitchFamily="34" charset="-120"/>
              </a:rPr>
              <a:t>- </a:t>
            </a:r>
            <a:endParaRPr lang="en-US" sz="1600" dirty="0"/>
          </a:p>
          <a:p>
            <a:pPr>
              <a:lnSpc>
                <a:spcPct val="100000"/>
              </a:lnSpc>
            </a:pPr>
            <a:r>
              <a:rPr lang="en-US" sz="2800" dirty="0">
                <a:solidFill>
                  <a:srgbClr val="1A1A1A"/>
                </a:solidFill>
                <a:latin typeface="Times New Roman" pitchFamily="34" charset="0"/>
                <a:ea typeface="Times New Roman" pitchFamily="34" charset="-122"/>
                <a:cs typeface="Times New Roman" pitchFamily="34" charset="-120"/>
              </a:rPr>
              <a:t>No clean system to track progress, ownership, and history</a:t>
            </a:r>
            <a:endParaRPr lang="en-US" sz="1600" dirty="0"/>
          </a:p>
        </p:txBody>
      </p:sp>
      <p:sp>
        <p:nvSpPr>
          <p:cNvPr id="16" name="Text 13"/>
          <p:cNvSpPr/>
          <p:nvPr/>
        </p:nvSpPr>
        <p:spPr>
          <a:xfrm>
            <a:off x="12949936" y="8890000"/>
            <a:ext cx="980186" cy="580771"/>
          </a:xfrm>
          <a:prstGeom prst="rect">
            <a:avLst/>
          </a:prstGeom>
          <a:noFill/>
          <a:ln/>
        </p:spPr>
        <p:txBody>
          <a:bodyPr wrap="none" lIns="0" tIns="0" rIns="0" bIns="0" rtlCol="0" anchor="t"/>
          <a:lstStyle/>
          <a:p>
            <a:pPr>
              <a:lnSpc>
                <a:spcPct val="100000"/>
              </a:lnSpc>
            </a:pPr>
            <a:r>
              <a:rPr lang="en-US" sz="2930" dirty="0">
                <a:solidFill>
                  <a:srgbClr val="1A1A1A"/>
                </a:solidFill>
                <a:latin typeface="Liter" pitchFamily="34" charset="0"/>
                <a:ea typeface="Liter" pitchFamily="34" charset="-122"/>
                <a:cs typeface="Liter" pitchFamily="34" charset="-120"/>
              </a:rPr>
              <a:t>03</a:t>
            </a:r>
            <a:endParaRPr lang="en-US" sz="1600" dirty="0"/>
          </a:p>
        </p:txBody>
      </p:sp>
      <p:sp>
        <p:nvSpPr>
          <p:cNvPr id="17" name="Text 14"/>
          <p:cNvSpPr/>
          <p:nvPr/>
        </p:nvSpPr>
        <p:spPr>
          <a:xfrm>
            <a:off x="14036675" y="8763000"/>
            <a:ext cx="8328660" cy="647192"/>
          </a:xfrm>
          <a:prstGeom prst="rect">
            <a:avLst/>
          </a:prstGeom>
          <a:noFill/>
          <a:ln/>
        </p:spPr>
        <p:txBody>
          <a:bodyPr wrap="square" lIns="0" tIns="0" rIns="0" bIns="0" rtlCol="0" anchor="t"/>
          <a:lstStyle/>
          <a:p>
            <a:pPr>
              <a:lnSpc>
                <a:spcPct val="100000"/>
              </a:lnSpc>
            </a:pPr>
            <a:r>
              <a:rPr lang="en-US" sz="3330" dirty="0">
                <a:solidFill>
                  <a:srgbClr val="10B981"/>
                </a:solidFill>
                <a:latin typeface="Quattrocento Sans" pitchFamily="34" charset="0"/>
                <a:ea typeface="Quattrocento Sans" pitchFamily="34" charset="-122"/>
                <a:cs typeface="Quattrocento Sans" pitchFamily="34" charset="-120"/>
              </a:rPr>
              <a:t>Business Cost</a:t>
            </a:r>
            <a:endParaRPr lang="en-US" sz="1600" dirty="0"/>
          </a:p>
        </p:txBody>
      </p:sp>
      <p:sp>
        <p:nvSpPr>
          <p:cNvPr id="18" name="Text 15"/>
          <p:cNvSpPr/>
          <p:nvPr/>
        </p:nvSpPr>
        <p:spPr>
          <a:xfrm>
            <a:off x="14036675" y="9499600"/>
            <a:ext cx="8328660" cy="1660144"/>
          </a:xfrm>
          <a:prstGeom prst="rect">
            <a:avLst/>
          </a:prstGeom>
          <a:noFill/>
          <a:ln/>
        </p:spPr>
        <p:txBody>
          <a:bodyPr wrap="square" lIns="0" tIns="0" rIns="0" bIns="0" rtlCol="0" anchor="t"/>
          <a:lstStyle/>
          <a:p>
            <a:pPr>
              <a:lnSpc>
                <a:spcPct val="100000"/>
              </a:lnSpc>
            </a:pPr>
            <a:r>
              <a:rPr lang="en-US" sz="2800" dirty="0">
                <a:solidFill>
                  <a:srgbClr val="1A1A1A"/>
                </a:solidFill>
                <a:latin typeface="Quattrocento Sans" pitchFamily="34" charset="0"/>
                <a:ea typeface="Quattrocento Sans" pitchFamily="34" charset="-122"/>
                <a:cs typeface="Quattrocento Sans" pitchFamily="34" charset="-120"/>
              </a:rPr>
              <a:t>Wasted staff hours, slow response to delivery issues, and missed revenue opportunities from inefficient route planning.</a:t>
            </a:r>
            <a:endParaRPr lang="en-US" sz="1600" dirty="0"/>
          </a:p>
        </p:txBody>
      </p:sp>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0B981"/>
        </a:solidFill>
      </p:bgPr>
    </p:bg>
    <p:spTree>
      <p:nvGrpSpPr>
        <p:cNvPr id="1" name=""/>
        <p:cNvGrpSpPr/>
        <p:nvPr/>
      </p:nvGrpSpPr>
      <p:grpSpPr>
        <a:xfrm>
          <a:off x="0" y="0"/>
          <a:ext cx="0" cy="0"/>
          <a:chOff x="0" y="0"/>
          <a:chExt cx="0" cy="0"/>
        </a:xfrm>
      </p:grpSpPr>
      <p:sp>
        <p:nvSpPr>
          <p:cNvPr id="3" name="Shape 0"/>
          <p:cNvSpPr/>
          <p:nvPr/>
        </p:nvSpPr>
        <p:spPr>
          <a:xfrm>
            <a:off x="635000" y="8890000"/>
            <a:ext cx="3556000" cy="3556000"/>
          </a:xfrm>
          <a:prstGeom prst="ellipse">
            <a:avLst/>
          </a:prstGeom>
          <a:solidFill>
            <a:srgbClr val="FFFFFF">
              <a:alpha val="4706"/>
            </a:srgbClr>
          </a:solidFill>
          <a:ln/>
        </p:spPr>
      </p:sp>
      <p:sp>
        <p:nvSpPr>
          <p:cNvPr id="4" name="Shape 1"/>
          <p:cNvSpPr/>
          <p:nvPr/>
        </p:nvSpPr>
        <p:spPr>
          <a:xfrm>
            <a:off x="10363200" y="4635500"/>
            <a:ext cx="11899900" cy="25400"/>
          </a:xfrm>
          <a:prstGeom prst="rect">
            <a:avLst/>
          </a:prstGeom>
          <a:solidFill>
            <a:srgbClr val="FFFFFF">
              <a:alpha val="14510"/>
            </a:srgbClr>
          </a:solidFill>
          <a:ln/>
        </p:spPr>
      </p:sp>
      <p:sp>
        <p:nvSpPr>
          <p:cNvPr id="5" name="Shape 2"/>
          <p:cNvSpPr/>
          <p:nvPr/>
        </p:nvSpPr>
        <p:spPr>
          <a:xfrm>
            <a:off x="762000" y="11747500"/>
            <a:ext cx="4318000" cy="635000"/>
          </a:xfrm>
          <a:prstGeom prst="rect">
            <a:avLst/>
          </a:prstGeom>
          <a:solidFill>
            <a:srgbClr val="10B981"/>
          </a:solidFill>
          <a:ln/>
        </p:spPr>
      </p:sp>
      <p:sp>
        <p:nvSpPr>
          <p:cNvPr id="6" name="Text 3"/>
          <p:cNvSpPr/>
          <p:nvPr/>
        </p:nvSpPr>
        <p:spPr>
          <a:xfrm>
            <a:off x="1079500" y="12039600"/>
            <a:ext cx="3810000" cy="436753"/>
          </a:xfrm>
          <a:prstGeom prst="rect">
            <a:avLst/>
          </a:prstGeom>
          <a:noFill/>
          <a:ln/>
        </p:spPr>
        <p:txBody>
          <a:bodyPr wrap="none" lIns="0" tIns="0" rIns="0" bIns="0" rtlCol="0" anchor="t"/>
          <a:lstStyle/>
          <a:p>
            <a:pPr>
              <a:lnSpc>
                <a:spcPct val="100000"/>
              </a:lnSpc>
            </a:pPr>
            <a:r>
              <a:rPr lang="en-US" sz="2000" spc="99" kern="0" dirty="0">
                <a:solidFill>
                  <a:srgbClr val="FFFFFF"/>
                </a:solidFill>
                <a:latin typeface="Quattrocento Sans" pitchFamily="34" charset="0"/>
                <a:ea typeface="Quattrocento Sans" pitchFamily="34" charset="-122"/>
                <a:cs typeface="Quattrocento Sans" pitchFamily="34" charset="-120"/>
              </a:rPr>
              <a:t>GANGA MAXX</a:t>
            </a:r>
            <a:endParaRPr lang="en-US" sz="1600" dirty="0"/>
          </a:p>
        </p:txBody>
      </p:sp>
      <p:sp>
        <p:nvSpPr>
          <p:cNvPr id="7" name="Text 4"/>
          <p:cNvSpPr/>
          <p:nvPr/>
        </p:nvSpPr>
        <p:spPr>
          <a:xfrm>
            <a:off x="10369169" y="2554732"/>
            <a:ext cx="11894439" cy="1669288"/>
          </a:xfrm>
          <a:prstGeom prst="rect">
            <a:avLst/>
          </a:prstGeom>
          <a:noFill/>
          <a:ln/>
        </p:spPr>
        <p:txBody>
          <a:bodyPr wrap="square" lIns="0" tIns="0" rIns="0" bIns="0" rtlCol="0" anchor="t"/>
          <a:lstStyle/>
          <a:p>
            <a:pPr>
              <a:lnSpc>
                <a:spcPct val="100000"/>
              </a:lnSpc>
            </a:pPr>
            <a:r>
              <a:rPr lang="en-US" sz="8000" dirty="0">
                <a:solidFill>
                  <a:srgbClr val="FFFFFF"/>
                </a:solidFill>
                <a:latin typeface="Liter" pitchFamily="34" charset="0"/>
                <a:ea typeface="Liter" pitchFamily="34" charset="-122"/>
                <a:cs typeface="Liter" pitchFamily="34" charset="-120"/>
              </a:rPr>
              <a:t>Proposed Solution</a:t>
            </a:r>
            <a:endParaRPr lang="en-US" sz="1600" dirty="0"/>
          </a:p>
        </p:txBody>
      </p:sp>
      <p:sp>
        <p:nvSpPr>
          <p:cNvPr id="8" name="Text 5"/>
          <p:cNvSpPr/>
          <p:nvPr/>
        </p:nvSpPr>
        <p:spPr>
          <a:xfrm>
            <a:off x="10369169" y="4862322"/>
            <a:ext cx="11894439" cy="748411"/>
          </a:xfrm>
          <a:prstGeom prst="rect">
            <a:avLst/>
          </a:prstGeom>
          <a:noFill/>
          <a:ln/>
        </p:spPr>
        <p:txBody>
          <a:bodyPr wrap="square" lIns="0" tIns="0" rIns="0" bIns="0" rtlCol="0" anchor="t"/>
          <a:lstStyle/>
          <a:p>
            <a:pPr>
              <a:lnSpc>
                <a:spcPct val="100000"/>
              </a:lnSpc>
            </a:pPr>
            <a:r>
              <a:rPr lang="en-US" sz="4000" dirty="0">
                <a:solidFill>
                  <a:srgbClr val="1A1A1A"/>
                </a:solidFill>
                <a:latin typeface="Liter" pitchFamily="34" charset="0"/>
                <a:ea typeface="Liter" pitchFamily="34" charset="-122"/>
                <a:cs typeface="Liter" pitchFamily="34" charset="-120"/>
              </a:rPr>
              <a:t>Overview</a:t>
            </a:r>
            <a:endParaRPr lang="en-US" sz="1600" dirty="0"/>
          </a:p>
        </p:txBody>
      </p:sp>
      <p:sp>
        <p:nvSpPr>
          <p:cNvPr id="9" name="Text 6"/>
          <p:cNvSpPr/>
          <p:nvPr/>
        </p:nvSpPr>
        <p:spPr>
          <a:xfrm>
            <a:off x="9582443" y="6036434"/>
            <a:ext cx="13400457" cy="6505659"/>
          </a:xfrm>
          <a:prstGeom prst="rect">
            <a:avLst/>
          </a:prstGeom>
          <a:noFill/>
          <a:ln/>
        </p:spPr>
        <p:txBody>
          <a:bodyPr wrap="square" lIns="0" tIns="0" rIns="0" bIns="0" rtlCol="0" anchor="t"/>
          <a:lstStyle/>
          <a:p>
            <a:pPr>
              <a:lnSpc>
                <a:spcPct val="100000"/>
              </a:lnSpc>
            </a:pPr>
            <a:r>
              <a:rPr lang="en-US" sz="2000" dirty="0">
                <a:solidFill>
                  <a:srgbClr val="FFFFFF"/>
                </a:solidFill>
                <a:latin typeface="Quattrocento Sans" pitchFamily="34" charset="0"/>
                <a:ea typeface="Quattrocento Sans" pitchFamily="34" charset="-122"/>
                <a:cs typeface="Quattrocento Sans" pitchFamily="34" charset="-120"/>
              </a:rPr>
              <a:t>   A   </a:t>
            </a:r>
            <a:pPr>
              <a:lnSpc>
                <a:spcPct val="100000"/>
              </a:lnSpc>
            </a:pPr>
            <a:r>
              <a:rPr lang="en-US" sz="2000" b="1" dirty="0">
                <a:solidFill>
                  <a:srgbClr val="FFFFFF"/>
                </a:solidFill>
                <a:latin typeface="Quattrocento Sans" pitchFamily="34" charset="0"/>
                <a:ea typeface="Quattrocento Sans" pitchFamily="34" charset="-122"/>
                <a:cs typeface="Quattrocento Sans" pitchFamily="34" charset="-120"/>
              </a:rPr>
              <a:t>w</a:t>
            </a:r>
            <a:pPr>
              <a:lnSpc>
                <a:spcPct val="100000"/>
              </a:lnSpc>
            </a:pPr>
            <a:r>
              <a:rPr lang="en-US" sz="2600" b="1" dirty="0">
                <a:solidFill>
                  <a:srgbClr val="FFFFFF"/>
                </a:solidFill>
                <a:latin typeface="Quattrocento Sans" pitchFamily="34" charset="0"/>
                <a:ea typeface="Quattrocento Sans" pitchFamily="34" charset="-122"/>
                <a:cs typeface="Quattrocento Sans" pitchFamily="34" charset="-120"/>
              </a:rPr>
              <a:t>eb-based last-mile delivery tracker</a:t>
            </a:r>
            <a:pPr>
              <a:lnSpc>
                <a:spcPct val="100000"/>
              </a:lnSpc>
            </a:pPr>
            <a:r>
              <a:rPr lang="en-US" sz="2600" dirty="0">
                <a:solidFill>
                  <a:srgbClr val="FFFFFF"/>
                </a:solidFill>
                <a:latin typeface="Quattrocento Sans" pitchFamily="34" charset="0"/>
                <a:ea typeface="Quattrocento Sans" pitchFamily="34" charset="-122"/>
                <a:cs typeface="Quattrocento Sans" pitchFamily="34" charset="-120"/>
              </a:rPr>
              <a:t> that gives the Delivery Coordinator full visibility and control over every institutional delivery.</a:t>
            </a:r>
            <a:endParaRPr lang="en-US" sz="1600" dirty="0"/>
          </a:p>
          <a:p>
            <a:pPr>
              <a:lnSpc>
                <a:spcPct val="100000"/>
              </a:lnSpc>
            </a:pPr>
            <a:r>
              <a:rPr lang="en-US" sz="2600" b="1" dirty="0">
                <a:solidFill>
                  <a:srgbClr val="FFFFFF"/>
                </a:solidFill>
                <a:latin typeface="Quattrocento Sans" pitchFamily="34" charset="0"/>
                <a:ea typeface="Quattrocento Sans" pitchFamily="34" charset="-122"/>
                <a:cs typeface="Quattrocento Sans" pitchFamily="34" charset="-120"/>
              </a:rPr>
              <a:t>Key capabilities:</a:t>
            </a:r>
            <a:endParaRPr lang="en-US" sz="1600" dirty="0"/>
          </a:p>
          <a:p>
            <a:pPr marL="254000" indent="-254000">
              <a:lnSpc>
                <a:spcPct val="100000"/>
              </a:lnSpc>
              <a:spcBef>
                <a:spcPts val="10"/>
              </a:spcBef>
              <a:buSzPct val="100000"/>
              <a:buChar char="•"/>
            </a:pPr>
            <a:r>
              <a:rPr lang="en-US" sz="2600" dirty="0">
                <a:solidFill>
                  <a:srgbClr val="FFFFFF"/>
                </a:solidFill>
                <a:latin typeface="Quattrocento Sans" pitchFamily="34" charset="0"/>
                <a:ea typeface="Quattrocento Sans" pitchFamily="34" charset="-122"/>
                <a:cs typeface="Quattrocento Sans" pitchFamily="34" charset="-120"/>
              </a:rPr>
              <a:t>Delivery run dashboard \u2014 all active runs at a glance</a:t>
            </a:r>
            <a:endParaRPr lang="en-US" sz="1600" dirty="0"/>
          </a:p>
          <a:p>
            <a:pPr marL="254000" indent="-254000">
              <a:lnSpc>
                <a:spcPct val="100000"/>
              </a:lnSpc>
              <a:spcBef>
                <a:spcPts val="10"/>
              </a:spcBef>
              <a:buSzPct val="100000"/>
              <a:buChar char="•"/>
            </a:pPr>
            <a:r>
              <a:rPr lang="en-US" sz="2600" dirty="0">
                <a:solidFill>
                  <a:srgbClr val="FFFFFF"/>
                </a:solidFill>
                <a:latin typeface="Quattrocento Sans" pitchFamily="34" charset="0"/>
                <a:ea typeface="Quattrocento Sans" pitchFamily="34" charset="-122"/>
                <a:cs typeface="Quattrocento Sans" pitchFamily="34" charset="-120"/>
              </a:rPr>
              <a:t>Order-to-vehicle assignment</a:t>
            </a:r>
            <a:endParaRPr lang="en-US" sz="1600" dirty="0"/>
          </a:p>
          <a:p>
            <a:pPr marL="254000" indent="-254000">
              <a:lnSpc>
                <a:spcPct val="100000"/>
              </a:lnSpc>
              <a:spcBef>
                <a:spcPts val="10"/>
              </a:spcBef>
              <a:buSzPct val="100000"/>
              <a:buChar char="•"/>
            </a:pPr>
            <a:r>
              <a:rPr lang="en-US" sz="2600" dirty="0">
                <a:solidFill>
                  <a:srgbClr val="FFFFFF"/>
                </a:solidFill>
                <a:latin typeface="Quattrocento Sans" pitchFamily="34" charset="0"/>
                <a:ea typeface="Quattrocento Sans" pitchFamily="34" charset="-122"/>
                <a:cs typeface="Quattrocento Sans" pitchFamily="34" charset="-120"/>
              </a:rPr>
              <a:t>Delivery status timeline \u2014 live updates per stop</a:t>
            </a:r>
            <a:endParaRPr lang="en-US" sz="1600" dirty="0"/>
          </a:p>
          <a:p>
            <a:pPr marL="254000" indent="-254000">
              <a:lnSpc>
                <a:spcPct val="100000"/>
              </a:lnSpc>
              <a:spcBef>
                <a:spcPts val="10"/>
              </a:spcBef>
              <a:buSzPct val="100000"/>
              <a:buChar char="•"/>
            </a:pPr>
            <a:r>
              <a:rPr lang="en-US" sz="2600" dirty="0">
                <a:solidFill>
                  <a:srgbClr val="FFFFFF"/>
                </a:solidFill>
                <a:latin typeface="Quattrocento Sans" pitchFamily="34" charset="0"/>
                <a:ea typeface="Quattrocento Sans" pitchFamily="34" charset="-122"/>
                <a:cs typeface="Quattrocento Sans" pitchFamily="34" charset="-120"/>
              </a:rPr>
              <a:t>Customer acknowledgement fields</a:t>
            </a:r>
            <a:endParaRPr lang="en-US" sz="1600" dirty="0"/>
          </a:p>
          <a:p>
            <a:pPr marL="254000" indent="-254000">
              <a:lnSpc>
                <a:spcPct val="100000"/>
              </a:lnSpc>
              <a:spcBef>
                <a:spcPts val="10"/>
              </a:spcBef>
              <a:buSzPct val="100000"/>
              <a:buChar char="•"/>
            </a:pPr>
            <a:r>
              <a:rPr lang="en-US" sz="2600" dirty="0">
                <a:solidFill>
                  <a:srgbClr val="FFFFFF"/>
                </a:solidFill>
                <a:latin typeface="Quattrocento Sans" pitchFamily="34" charset="0"/>
                <a:ea typeface="Quattrocento Sans" pitchFamily="34" charset="-122"/>
                <a:cs typeface="Quattrocento Sans" pitchFamily="34" charset="-120"/>
              </a:rPr>
              <a:t>Failed delivery reason capture</a:t>
            </a:r>
            <a:endParaRPr lang="en-US" sz="1600" dirty="0"/>
          </a:p>
          <a:p>
            <a:pPr marL="254000" indent="-254000">
              <a:lnSpc>
                <a:spcPct val="100000"/>
              </a:lnSpc>
              <a:spcBef>
                <a:spcPts val="10"/>
              </a:spcBef>
              <a:buSzPct val="100000"/>
              <a:buChar char="•"/>
            </a:pPr>
            <a:r>
              <a:rPr lang="en-US" sz="2600" dirty="0">
                <a:solidFill>
                  <a:srgbClr val="FFFFFF"/>
                </a:solidFill>
                <a:latin typeface="Quattrocento Sans" pitchFamily="34" charset="0"/>
                <a:ea typeface="Quattrocento Sans" pitchFamily="34" charset="-122"/>
                <a:cs typeface="Quattrocento Sans" pitchFamily="34" charset="-120"/>
              </a:rPr>
              <a:t>Route report view for post-delivery analysis</a:t>
            </a:r>
            <a:endParaRPr lang="en-US" sz="1600" dirty="0"/>
          </a:p>
          <a:p>
            <a:pPr>
              <a:lnSpc>
                <a:spcPct val="100000"/>
              </a:lnSpc>
            </a:pPr>
            <a:r>
              <a:rPr lang="en-US" sz="2600" b="1" dirty="0">
                <a:solidFill>
                  <a:srgbClr val="FFFFFF"/>
                </a:solidFill>
                <a:latin typeface="Quattrocento Sans" pitchFamily="34" charset="0"/>
                <a:ea typeface="Quattrocento Sans" pitchFamily="34" charset="-122"/>
                <a:cs typeface="Quattrocento Sans" pitchFamily="34" charset="-120"/>
              </a:rPr>
              <a:t>End-to-end flow:</a:t>
            </a:r>
            <a:endParaRPr lang="en-US" sz="1600" dirty="0"/>
          </a:p>
          <a:p>
            <a:pPr>
              <a:lnSpc>
                <a:spcPct val="100000"/>
              </a:lnSpc>
            </a:pPr>
            <a:r>
              <a:rPr lang="en-US" sz="2600" dirty="0">
                <a:solidFill>
                  <a:srgbClr val="FFFFFF"/>
                </a:solidFill>
                <a:latin typeface="Quattrocento Sans" pitchFamily="34" charset="0"/>
                <a:ea typeface="Quattrocento Sans" pitchFamily="34" charset="-122"/>
                <a:cs typeface="Quattrocento Sans" pitchFamily="34" charset="-120"/>
              </a:rPr>
              <a:t>Order dispatch  Route assignment  Live status update  Customer acknowledgement + Proof of delivery</a:t>
            </a:r>
            <a:endParaRPr lang="en-US" sz="1600" dirty="0"/>
          </a:p>
        </p:txBody>
      </p:sp>
      <p:pic>
        <p:nvPicPr>
          <p:cNvPr id="10" name="Image 0" descr="https://kimi-img.moonshot.cn/pub/slides/26-06-06-01:25:16-d8hgcv136akfkev447g0.png">    </p:cNvPr>
          <p:cNvPicPr>
            <a:picLocks noChangeAspect="1"/>
          </p:cNvPicPr>
          <p:nvPr/>
        </p:nvPicPr>
        <p:blipFill>
          <a:blip r:embed="rId1"/>
          <a:stretch>
            <a:fillRect/>
          </a:stretch>
        </p:blipFill>
        <p:spPr>
          <a:xfrm>
            <a:off x="539750" y="1790700"/>
            <a:ext cx="23304500" cy="10134600"/>
          </a:xfrm>
          <a:prstGeom prst="rect">
            <a:avLst/>
          </a:prstGeom>
        </p:spPr>
      </p:pic>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0B981"/>
        </a:solidFill>
      </p:bgPr>
    </p:bg>
    <p:spTree>
      <p:nvGrpSpPr>
        <p:cNvPr id="1" name=""/>
        <p:cNvGrpSpPr/>
        <p:nvPr/>
      </p:nvGrpSpPr>
      <p:grpSpPr>
        <a:xfrm>
          <a:off x="0" y="0"/>
          <a:ext cx="0" cy="0"/>
          <a:chOff x="0" y="0"/>
          <a:chExt cx="0" cy="0"/>
        </a:xfrm>
      </p:grpSpPr>
      <p:sp>
        <p:nvSpPr>
          <p:cNvPr id="3" name="Shape 0"/>
          <p:cNvSpPr/>
          <p:nvPr/>
        </p:nvSpPr>
        <p:spPr>
          <a:xfrm>
            <a:off x="635000" y="635000"/>
            <a:ext cx="2540000" cy="2540000"/>
          </a:xfrm>
          <a:prstGeom prst="ellipse">
            <a:avLst/>
          </a:prstGeom>
          <a:solidFill>
            <a:srgbClr val="FFFFFF">
              <a:alpha val="3137"/>
            </a:srgbClr>
          </a:solidFill>
          <a:ln/>
        </p:spPr>
      </p:sp>
      <p:sp>
        <p:nvSpPr>
          <p:cNvPr id="4" name="Shape 1"/>
          <p:cNvSpPr/>
          <p:nvPr/>
        </p:nvSpPr>
        <p:spPr>
          <a:xfrm>
            <a:off x="13589000" y="1778000"/>
            <a:ext cx="25400" cy="10414000"/>
          </a:xfrm>
          <a:prstGeom prst="rect">
            <a:avLst/>
          </a:prstGeom>
          <a:solidFill>
            <a:srgbClr val="FFFFFF">
              <a:alpha val="12549"/>
            </a:srgbClr>
          </a:solidFill>
          <a:ln/>
        </p:spPr>
      </p:sp>
      <p:sp>
        <p:nvSpPr>
          <p:cNvPr id="5" name="Shape 2"/>
          <p:cNvSpPr/>
          <p:nvPr/>
        </p:nvSpPr>
        <p:spPr>
          <a:xfrm>
            <a:off x="762000" y="11811000"/>
            <a:ext cx="4318000" cy="635000"/>
          </a:xfrm>
          <a:prstGeom prst="rect">
            <a:avLst/>
          </a:prstGeom>
          <a:solidFill>
            <a:srgbClr val="10B981"/>
          </a:solidFill>
          <a:ln/>
        </p:spPr>
      </p:sp>
      <p:sp>
        <p:nvSpPr>
          <p:cNvPr id="6" name="Text 3"/>
          <p:cNvSpPr/>
          <p:nvPr/>
        </p:nvSpPr>
        <p:spPr>
          <a:xfrm>
            <a:off x="1079500" y="12039600"/>
            <a:ext cx="3810000" cy="436753"/>
          </a:xfrm>
          <a:prstGeom prst="rect">
            <a:avLst/>
          </a:prstGeom>
          <a:noFill/>
          <a:ln/>
        </p:spPr>
        <p:txBody>
          <a:bodyPr wrap="none" lIns="0" tIns="0" rIns="0" bIns="0" rtlCol="0" anchor="t"/>
          <a:lstStyle/>
          <a:p>
            <a:pPr>
              <a:lnSpc>
                <a:spcPct val="100000"/>
              </a:lnSpc>
            </a:pPr>
            <a:r>
              <a:rPr lang="en-US" sz="2000" spc="99" kern="0" dirty="0">
                <a:solidFill>
                  <a:srgbClr val="FFFFFF"/>
                </a:solidFill>
                <a:latin typeface="Quattrocento Sans" pitchFamily="34" charset="0"/>
                <a:ea typeface="Quattrocento Sans" pitchFamily="34" charset="-122"/>
                <a:cs typeface="Quattrocento Sans" pitchFamily="34" charset="-120"/>
              </a:rPr>
              <a:t>GANGA MAXX</a:t>
            </a:r>
            <a:endParaRPr lang="en-US" sz="1600" dirty="0"/>
          </a:p>
        </p:txBody>
      </p:sp>
      <p:sp>
        <p:nvSpPr>
          <p:cNvPr id="7" name="Text 4"/>
          <p:cNvSpPr/>
          <p:nvPr/>
        </p:nvSpPr>
        <p:spPr>
          <a:xfrm>
            <a:off x="1297432" y="1760093"/>
            <a:ext cx="9758299" cy="748411"/>
          </a:xfrm>
          <a:prstGeom prst="rect">
            <a:avLst/>
          </a:prstGeom>
          <a:noFill/>
          <a:ln/>
        </p:spPr>
        <p:txBody>
          <a:bodyPr wrap="square" lIns="0" tIns="0" rIns="0" bIns="0" rtlCol="0" anchor="t"/>
          <a:lstStyle/>
          <a:p>
            <a:pPr>
              <a:lnSpc>
                <a:spcPct val="100000"/>
              </a:lnSpc>
            </a:pPr>
            <a:r>
              <a:rPr lang="en-US" sz="4000" dirty="0">
                <a:solidFill>
                  <a:srgbClr val="1A1A1A"/>
                </a:solidFill>
                <a:latin typeface="Liter" pitchFamily="34" charset="0"/>
                <a:ea typeface="Liter" pitchFamily="34" charset="-122"/>
                <a:cs typeface="Liter" pitchFamily="34" charset="-120"/>
              </a:rPr>
              <a:t>Five Measurable Goals</a:t>
            </a:r>
            <a:endParaRPr lang="en-US" sz="1600" dirty="0"/>
          </a:p>
        </p:txBody>
      </p:sp>
      <p:sp>
        <p:nvSpPr>
          <p:cNvPr id="8" name="Text 5"/>
          <p:cNvSpPr/>
          <p:nvPr/>
        </p:nvSpPr>
        <p:spPr>
          <a:xfrm>
            <a:off x="1249680" y="2953258"/>
            <a:ext cx="9758299" cy="2540000"/>
          </a:xfrm>
          <a:prstGeom prst="rect">
            <a:avLst/>
          </a:prstGeom>
          <a:noFill/>
          <a:ln/>
        </p:spPr>
        <p:txBody>
          <a:bodyPr wrap="square" lIns="0" tIns="0" rIns="0" bIns="0" rtlCol="0" anchor="t"/>
          <a:lstStyle/>
          <a:p>
            <a:pPr>
              <a:lnSpc>
                <a:spcPct val="100000"/>
              </a:lnSpc>
            </a:pPr>
            <a:r>
              <a:rPr lang="en-US" sz="8000" dirty="0">
                <a:solidFill>
                  <a:srgbClr val="FFFFFF"/>
                </a:solidFill>
                <a:latin typeface="Liter" pitchFamily="34" charset="0"/>
                <a:ea typeface="Liter" pitchFamily="34" charset="-122"/>
                <a:cs typeface="Liter" pitchFamily="34" charset="-120"/>
              </a:rPr>
              <a:t>Project Objectives</a:t>
            </a:r>
            <a:endParaRPr lang="en-US" sz="1600" dirty="0"/>
          </a:p>
        </p:txBody>
      </p:sp>
      <p:sp>
        <p:nvSpPr>
          <p:cNvPr id="9" name="Text 6"/>
          <p:cNvSpPr/>
          <p:nvPr/>
        </p:nvSpPr>
        <p:spPr>
          <a:xfrm>
            <a:off x="12949936" y="1651000"/>
            <a:ext cx="980186" cy="580771"/>
          </a:xfrm>
          <a:prstGeom prst="rect">
            <a:avLst/>
          </a:prstGeom>
          <a:noFill/>
          <a:ln/>
        </p:spPr>
        <p:txBody>
          <a:bodyPr wrap="none" lIns="0" tIns="0" rIns="0" bIns="0" rtlCol="0" anchor="t"/>
          <a:lstStyle/>
          <a:p>
            <a:pPr>
              <a:lnSpc>
                <a:spcPct val="100000"/>
              </a:lnSpc>
            </a:pPr>
            <a:r>
              <a:rPr lang="en-US" sz="2930" dirty="0">
                <a:solidFill>
                  <a:srgbClr val="FFFFFF"/>
                </a:solidFill>
                <a:latin typeface="Liter" pitchFamily="34" charset="0"/>
                <a:ea typeface="Liter" pitchFamily="34" charset="-122"/>
                <a:cs typeface="Liter" pitchFamily="34" charset="-120"/>
              </a:rPr>
              <a:t>01</a:t>
            </a:r>
            <a:endParaRPr lang="en-US" sz="1600" dirty="0"/>
          </a:p>
        </p:txBody>
      </p:sp>
      <p:sp>
        <p:nvSpPr>
          <p:cNvPr id="10" name="Text 7"/>
          <p:cNvSpPr/>
          <p:nvPr/>
        </p:nvSpPr>
        <p:spPr>
          <a:xfrm>
            <a:off x="14036675" y="1524000"/>
            <a:ext cx="8328660" cy="647192"/>
          </a:xfrm>
          <a:prstGeom prst="rect">
            <a:avLst/>
          </a:prstGeom>
          <a:noFill/>
          <a:ln/>
        </p:spPr>
        <p:txBody>
          <a:bodyPr wrap="square" lIns="0" tIns="0" rIns="0" bIns="0" rtlCol="0" anchor="t"/>
          <a:lstStyle/>
          <a:p>
            <a:pPr>
              <a:lnSpc>
                <a:spcPct val="100000"/>
              </a:lnSpc>
            </a:pPr>
            <a:r>
              <a:rPr lang="en-US" sz="3100" dirty="0">
                <a:solidFill>
                  <a:srgbClr val="FFFFFF"/>
                </a:solidFill>
                <a:latin typeface="Quattrocento Sans" pitchFamily="34" charset="0"/>
                <a:ea typeface="Quattrocento Sans" pitchFamily="34" charset="-122"/>
                <a:cs typeface="Quattrocento Sans" pitchFamily="34" charset="-120"/>
              </a:rPr>
              <a:t>Delivery Run Dashboard</a:t>
            </a:r>
            <a:endParaRPr lang="en-US" sz="1600" dirty="0"/>
          </a:p>
        </p:txBody>
      </p:sp>
      <p:sp>
        <p:nvSpPr>
          <p:cNvPr id="11" name="Text 8"/>
          <p:cNvSpPr/>
          <p:nvPr/>
        </p:nvSpPr>
        <p:spPr>
          <a:xfrm>
            <a:off x="14036675" y="2222500"/>
            <a:ext cx="8328660" cy="1016000"/>
          </a:xfrm>
          <a:prstGeom prst="rect">
            <a:avLst/>
          </a:prstGeom>
          <a:noFill/>
          <a:ln/>
        </p:spPr>
        <p:txBody>
          <a:bodyPr wrap="square" lIns="0" tIns="0" rIns="0" bIns="0" rtlCol="0" anchor="t"/>
          <a:lstStyle/>
          <a:p>
            <a:pPr>
              <a:lnSpc>
                <a:spcPct val="100000"/>
              </a:lnSpc>
            </a:pPr>
            <a:r>
              <a:rPr lang="en-US" sz="2600" dirty="0">
                <a:solidFill>
                  <a:srgbClr val="FFFFFF"/>
                </a:solidFill>
                <a:latin typeface="Quattrocento Sans" pitchFamily="34" charset="0"/>
                <a:ea typeface="Quattrocento Sans" pitchFamily="34" charset="-122"/>
                <a:cs typeface="Quattrocento Sans" pitchFamily="34" charset="-120"/>
              </a:rPr>
              <a:t>Display all active institutional deliveries with status, sequence, and assigned staff in one view.</a:t>
            </a:r>
            <a:endParaRPr lang="en-US" sz="1600" dirty="0"/>
          </a:p>
        </p:txBody>
      </p:sp>
      <p:sp>
        <p:nvSpPr>
          <p:cNvPr id="12" name="Text 9"/>
          <p:cNvSpPr/>
          <p:nvPr/>
        </p:nvSpPr>
        <p:spPr>
          <a:xfrm>
            <a:off x="12949936" y="3556000"/>
            <a:ext cx="980186" cy="580771"/>
          </a:xfrm>
          <a:prstGeom prst="rect">
            <a:avLst/>
          </a:prstGeom>
          <a:noFill/>
          <a:ln/>
        </p:spPr>
        <p:txBody>
          <a:bodyPr wrap="none" lIns="0" tIns="0" rIns="0" bIns="0" rtlCol="0" anchor="t"/>
          <a:lstStyle/>
          <a:p>
            <a:pPr>
              <a:lnSpc>
                <a:spcPct val="100000"/>
              </a:lnSpc>
            </a:pPr>
            <a:r>
              <a:rPr lang="en-US" sz="2930" dirty="0">
                <a:solidFill>
                  <a:srgbClr val="FFFFFF"/>
                </a:solidFill>
                <a:latin typeface="Liter" pitchFamily="34" charset="0"/>
                <a:ea typeface="Liter" pitchFamily="34" charset="-122"/>
                <a:cs typeface="Liter" pitchFamily="34" charset="-120"/>
              </a:rPr>
              <a:t>02</a:t>
            </a:r>
            <a:endParaRPr lang="en-US" sz="1600" dirty="0"/>
          </a:p>
        </p:txBody>
      </p:sp>
      <p:sp>
        <p:nvSpPr>
          <p:cNvPr id="13" name="Text 10"/>
          <p:cNvSpPr/>
          <p:nvPr/>
        </p:nvSpPr>
        <p:spPr>
          <a:xfrm>
            <a:off x="14036675" y="3429000"/>
            <a:ext cx="8328660" cy="647192"/>
          </a:xfrm>
          <a:prstGeom prst="rect">
            <a:avLst/>
          </a:prstGeom>
          <a:noFill/>
          <a:ln/>
        </p:spPr>
        <p:txBody>
          <a:bodyPr wrap="square" lIns="0" tIns="0" rIns="0" bIns="0" rtlCol="0" anchor="t"/>
          <a:lstStyle/>
          <a:p>
            <a:pPr>
              <a:lnSpc>
                <a:spcPct val="100000"/>
              </a:lnSpc>
            </a:pPr>
            <a:r>
              <a:rPr lang="en-US" sz="3100" dirty="0">
                <a:solidFill>
                  <a:srgbClr val="FFFFFF"/>
                </a:solidFill>
                <a:latin typeface="Quattrocento Sans" pitchFamily="34" charset="0"/>
                <a:ea typeface="Quattrocento Sans" pitchFamily="34" charset="-122"/>
                <a:cs typeface="Quattrocento Sans" pitchFamily="34" charset="-120"/>
              </a:rPr>
              <a:t>Backend API System</a:t>
            </a:r>
            <a:endParaRPr lang="en-US" sz="1600" dirty="0"/>
          </a:p>
        </p:txBody>
      </p:sp>
      <p:sp>
        <p:nvSpPr>
          <p:cNvPr id="14" name="Text 11"/>
          <p:cNvSpPr/>
          <p:nvPr/>
        </p:nvSpPr>
        <p:spPr>
          <a:xfrm>
            <a:off x="14036675" y="4127500"/>
            <a:ext cx="8328660" cy="713456"/>
          </a:xfrm>
          <a:prstGeom prst="rect">
            <a:avLst/>
          </a:prstGeom>
          <a:noFill/>
          <a:ln/>
        </p:spPr>
        <p:txBody>
          <a:bodyPr wrap="square" lIns="0" tIns="0" rIns="0" bIns="0" rtlCol="0" anchor="t"/>
          <a:lstStyle/>
          <a:p>
            <a:pPr>
              <a:lnSpc>
                <a:spcPct val="100000"/>
              </a:lnSpc>
            </a:pPr>
            <a:r>
              <a:rPr lang="en-US" sz="2800" dirty="0">
                <a:solidFill>
                  <a:srgbClr val="FFFFFF"/>
                </a:solidFill>
                <a:latin typeface="Quattrocento Sans" pitchFamily="34" charset="0"/>
                <a:ea typeface="Quattrocento Sans" pitchFamily="34" charset="-122"/>
                <a:cs typeface="Quattrocento Sans" pitchFamily="34" charset="-120"/>
              </a:rPr>
              <a:t>Validate delivery inputs, store records with timestamps, and return real-time status to the frontend.</a:t>
            </a:r>
            <a:endParaRPr lang="en-US" sz="1600" dirty="0"/>
          </a:p>
        </p:txBody>
      </p:sp>
      <p:sp>
        <p:nvSpPr>
          <p:cNvPr id="15" name="Text 12"/>
          <p:cNvSpPr/>
          <p:nvPr/>
        </p:nvSpPr>
        <p:spPr>
          <a:xfrm>
            <a:off x="12949936" y="5461000"/>
            <a:ext cx="980186" cy="580771"/>
          </a:xfrm>
          <a:prstGeom prst="rect">
            <a:avLst/>
          </a:prstGeom>
          <a:noFill/>
          <a:ln/>
        </p:spPr>
        <p:txBody>
          <a:bodyPr wrap="none" lIns="0" tIns="0" rIns="0" bIns="0" rtlCol="0" anchor="t"/>
          <a:lstStyle/>
          <a:p>
            <a:pPr>
              <a:lnSpc>
                <a:spcPct val="100000"/>
              </a:lnSpc>
            </a:pPr>
            <a:r>
              <a:rPr lang="en-US" sz="2930" dirty="0">
                <a:solidFill>
                  <a:srgbClr val="FFFFFF"/>
                </a:solidFill>
                <a:latin typeface="Liter" pitchFamily="34" charset="0"/>
                <a:ea typeface="Liter" pitchFamily="34" charset="-122"/>
                <a:cs typeface="Liter" pitchFamily="34" charset="-120"/>
              </a:rPr>
              <a:t>03</a:t>
            </a:r>
            <a:endParaRPr lang="en-US" sz="1600" dirty="0"/>
          </a:p>
        </p:txBody>
      </p:sp>
      <p:sp>
        <p:nvSpPr>
          <p:cNvPr id="16" name="Text 13"/>
          <p:cNvSpPr/>
          <p:nvPr/>
        </p:nvSpPr>
        <p:spPr>
          <a:xfrm>
            <a:off x="14036675" y="5599252"/>
            <a:ext cx="8328660" cy="508000"/>
          </a:xfrm>
          <a:prstGeom prst="rect">
            <a:avLst/>
          </a:prstGeom>
          <a:noFill/>
          <a:ln/>
        </p:spPr>
        <p:txBody>
          <a:bodyPr wrap="square" lIns="0" tIns="0" rIns="0" bIns="0" rtlCol="0" anchor="t"/>
          <a:lstStyle/>
          <a:p>
            <a:pPr>
              <a:lnSpc>
                <a:spcPct val="100000"/>
              </a:lnSpc>
            </a:pPr>
            <a:r>
              <a:rPr lang="en-US" sz="3500" dirty="0">
                <a:solidFill>
                  <a:srgbClr val="FFFFFF"/>
                </a:solidFill>
                <a:latin typeface="Quattrocento Sans" pitchFamily="34" charset="0"/>
                <a:ea typeface="Quattrocento Sans" pitchFamily="34" charset="-122"/>
                <a:cs typeface="Quattrocento Sans" pitchFamily="34" charset="-120"/>
              </a:rPr>
              <a:t>Digital Proof of Delivery</a:t>
            </a:r>
            <a:endParaRPr lang="en-US" sz="1600" dirty="0"/>
          </a:p>
        </p:txBody>
      </p:sp>
      <p:sp>
        <p:nvSpPr>
          <p:cNvPr id="17" name="Text 14"/>
          <p:cNvSpPr/>
          <p:nvPr/>
        </p:nvSpPr>
        <p:spPr>
          <a:xfrm>
            <a:off x="14036675" y="6259408"/>
            <a:ext cx="8328660" cy="789092"/>
          </a:xfrm>
          <a:prstGeom prst="rect">
            <a:avLst/>
          </a:prstGeom>
          <a:noFill/>
          <a:ln/>
        </p:spPr>
        <p:txBody>
          <a:bodyPr wrap="square" lIns="0" tIns="0" rIns="0" bIns="0" rtlCol="0" anchor="t"/>
          <a:lstStyle/>
          <a:p>
            <a:pPr>
              <a:lnSpc>
                <a:spcPct val="100000"/>
              </a:lnSpc>
            </a:pPr>
            <a:r>
              <a:rPr lang="en-US" sz="2600" dirty="0">
                <a:solidFill>
                  <a:srgbClr val="FFFFFF"/>
                </a:solidFill>
                <a:latin typeface="Quattrocento Sans" pitchFamily="34" charset="0"/>
                <a:ea typeface="Quattrocento Sans" pitchFamily="34" charset="-122"/>
                <a:cs typeface="Quattrocento Sans" pitchFamily="34" charset="-120"/>
              </a:rPr>
              <a:t>Capture photo uploads and customer acknowledgement signatures at every delivery stop.</a:t>
            </a:r>
            <a:endParaRPr lang="en-US" sz="1600" dirty="0"/>
          </a:p>
        </p:txBody>
      </p:sp>
      <p:sp>
        <p:nvSpPr>
          <p:cNvPr id="18" name="Text 15"/>
          <p:cNvSpPr/>
          <p:nvPr/>
        </p:nvSpPr>
        <p:spPr>
          <a:xfrm>
            <a:off x="12949936" y="7366000"/>
            <a:ext cx="980186" cy="580771"/>
          </a:xfrm>
          <a:prstGeom prst="rect">
            <a:avLst/>
          </a:prstGeom>
          <a:noFill/>
          <a:ln/>
        </p:spPr>
        <p:txBody>
          <a:bodyPr wrap="none" lIns="0" tIns="0" rIns="0" bIns="0" rtlCol="0" anchor="t"/>
          <a:lstStyle/>
          <a:p>
            <a:pPr>
              <a:lnSpc>
                <a:spcPct val="100000"/>
              </a:lnSpc>
            </a:pPr>
            <a:r>
              <a:rPr lang="en-US" sz="2930" dirty="0">
                <a:solidFill>
                  <a:srgbClr val="FFFFFF"/>
                </a:solidFill>
                <a:latin typeface="Liter" pitchFamily="34" charset="0"/>
                <a:ea typeface="Liter" pitchFamily="34" charset="-122"/>
                <a:cs typeface="Liter" pitchFamily="34" charset="-120"/>
              </a:rPr>
              <a:t>04</a:t>
            </a:r>
            <a:endParaRPr lang="en-US" sz="1600" dirty="0"/>
          </a:p>
        </p:txBody>
      </p:sp>
      <p:sp>
        <p:nvSpPr>
          <p:cNvPr id="19" name="Text 16"/>
          <p:cNvSpPr/>
          <p:nvPr/>
        </p:nvSpPr>
        <p:spPr>
          <a:xfrm>
            <a:off x="14036675" y="7239000"/>
            <a:ext cx="8328660" cy="647192"/>
          </a:xfrm>
          <a:prstGeom prst="rect">
            <a:avLst/>
          </a:prstGeom>
          <a:noFill/>
          <a:ln/>
        </p:spPr>
        <p:txBody>
          <a:bodyPr wrap="square" lIns="0" tIns="0" rIns="0" bIns="0" rtlCol="0" anchor="t"/>
          <a:lstStyle/>
          <a:p>
            <a:pPr>
              <a:lnSpc>
                <a:spcPct val="100000"/>
              </a:lnSpc>
            </a:pPr>
            <a:r>
              <a:rPr lang="en-US" sz="3100" dirty="0">
                <a:solidFill>
                  <a:srgbClr val="FFFFFF"/>
                </a:solidFill>
                <a:latin typeface="Quattrocento Sans" pitchFamily="34" charset="0"/>
                <a:ea typeface="Quattrocento Sans" pitchFamily="34" charset="-122"/>
                <a:cs typeface="Quattrocento Sans" pitchFamily="34" charset="-120"/>
              </a:rPr>
              <a:t>Failed Delivery Alerts</a:t>
            </a:r>
            <a:endParaRPr lang="en-US" sz="1600" dirty="0"/>
          </a:p>
        </p:txBody>
      </p:sp>
      <p:sp>
        <p:nvSpPr>
          <p:cNvPr id="20" name="Text 17"/>
          <p:cNvSpPr/>
          <p:nvPr/>
        </p:nvSpPr>
        <p:spPr>
          <a:xfrm>
            <a:off x="14036675" y="7937500"/>
            <a:ext cx="8328660" cy="1016000"/>
          </a:xfrm>
          <a:prstGeom prst="rect">
            <a:avLst/>
          </a:prstGeom>
          <a:noFill/>
          <a:ln/>
        </p:spPr>
        <p:txBody>
          <a:bodyPr wrap="square" lIns="0" tIns="0" rIns="0" bIns="0" rtlCol="0" anchor="t"/>
          <a:lstStyle/>
          <a:p>
            <a:pPr>
              <a:lnSpc>
                <a:spcPct val="100000"/>
              </a:lnSpc>
            </a:pPr>
            <a:r>
              <a:rPr lang="en-US" sz="2800" dirty="0">
                <a:solidFill>
                  <a:srgbClr val="FFFFFF"/>
                </a:solidFill>
                <a:latin typeface="Quattrocento Sans" pitchFamily="34" charset="0"/>
                <a:ea typeface="Quattrocento Sans" pitchFamily="34" charset="-122"/>
                <a:cs typeface="Quattrocento Sans" pitchFamily="34" charset="-120"/>
              </a:rPr>
              <a:t>Create a reason capture flow with automatic escalation alerts to the Delivery Coordinator.</a:t>
            </a:r>
            <a:endParaRPr lang="en-US" sz="1600" dirty="0"/>
          </a:p>
        </p:txBody>
      </p:sp>
      <p:sp>
        <p:nvSpPr>
          <p:cNvPr id="21" name="Text 18"/>
          <p:cNvSpPr/>
          <p:nvPr/>
        </p:nvSpPr>
        <p:spPr>
          <a:xfrm>
            <a:off x="12949936" y="9271000"/>
            <a:ext cx="980186" cy="580771"/>
          </a:xfrm>
          <a:prstGeom prst="rect">
            <a:avLst/>
          </a:prstGeom>
          <a:noFill/>
          <a:ln/>
        </p:spPr>
        <p:txBody>
          <a:bodyPr wrap="none" lIns="0" tIns="0" rIns="0" bIns="0" rtlCol="0" anchor="t"/>
          <a:lstStyle/>
          <a:p>
            <a:pPr>
              <a:lnSpc>
                <a:spcPct val="100000"/>
              </a:lnSpc>
            </a:pPr>
            <a:r>
              <a:rPr lang="en-US" sz="2930" dirty="0">
                <a:solidFill>
                  <a:srgbClr val="FFFFFF"/>
                </a:solidFill>
                <a:latin typeface="Liter" pitchFamily="34" charset="0"/>
                <a:ea typeface="Liter" pitchFamily="34" charset="-122"/>
                <a:cs typeface="Liter" pitchFamily="34" charset="-120"/>
              </a:rPr>
              <a:t>05</a:t>
            </a:r>
            <a:endParaRPr lang="en-US" sz="1600" dirty="0"/>
          </a:p>
        </p:txBody>
      </p:sp>
      <p:sp>
        <p:nvSpPr>
          <p:cNvPr id="22" name="Text 19"/>
          <p:cNvSpPr/>
          <p:nvPr/>
        </p:nvSpPr>
        <p:spPr>
          <a:xfrm>
            <a:off x="14036675" y="9144000"/>
            <a:ext cx="8328660" cy="647192"/>
          </a:xfrm>
          <a:prstGeom prst="rect">
            <a:avLst/>
          </a:prstGeom>
          <a:noFill/>
          <a:ln/>
        </p:spPr>
        <p:txBody>
          <a:bodyPr wrap="square" lIns="0" tIns="0" rIns="0" bIns="0" rtlCol="0" anchor="t"/>
          <a:lstStyle/>
          <a:p>
            <a:pPr>
              <a:lnSpc>
                <a:spcPct val="100000"/>
              </a:lnSpc>
            </a:pPr>
            <a:r>
              <a:rPr lang="en-US" sz="3500" dirty="0">
                <a:solidFill>
                  <a:srgbClr val="FFFFFF"/>
                </a:solidFill>
                <a:latin typeface="Quattrocento Sans" pitchFamily="34" charset="0"/>
                <a:ea typeface="Quattrocento Sans" pitchFamily="34" charset="-122"/>
                <a:cs typeface="Quattrocento Sans" pitchFamily="34" charset="-120"/>
              </a:rPr>
              <a:t>Deploy Prototype</a:t>
            </a:r>
            <a:endParaRPr lang="en-US" sz="1600" dirty="0"/>
          </a:p>
        </p:txBody>
      </p:sp>
      <p:sp>
        <p:nvSpPr>
          <p:cNvPr id="23" name="Text 20"/>
          <p:cNvSpPr/>
          <p:nvPr/>
        </p:nvSpPr>
        <p:spPr>
          <a:xfrm>
            <a:off x="14036675" y="10119832"/>
            <a:ext cx="8328660" cy="992668"/>
          </a:xfrm>
          <a:prstGeom prst="rect">
            <a:avLst/>
          </a:prstGeom>
          <a:noFill/>
          <a:ln/>
        </p:spPr>
        <p:txBody>
          <a:bodyPr wrap="square" lIns="0" tIns="0" rIns="0" bIns="0" rtlCol="0" anchor="t"/>
          <a:lstStyle/>
          <a:p>
            <a:pPr>
              <a:lnSpc>
                <a:spcPct val="100000"/>
              </a:lnSpc>
            </a:pPr>
            <a:r>
              <a:rPr lang="en-US" sz="2800" dirty="0">
                <a:solidFill>
                  <a:srgbClr val="FFFFFF"/>
                </a:solidFill>
                <a:latin typeface="Quattrocento Sans" pitchFamily="34" charset="0"/>
                <a:ea typeface="Quattrocento Sans" pitchFamily="34" charset="-122"/>
                <a:cs typeface="Quattrocento Sans" pitchFamily="34" charset="-120"/>
              </a:rPr>
              <a:t>Deploy a functional prototype via public URL with GitHub repo, test report, and demo video.</a:t>
            </a:r>
            <a:endParaRPr lang="en-US" sz="1600" dirty="0"/>
          </a:p>
        </p:txBody>
      </p:sp>
    </p:spTree>
  </p:cSld>
  <p:clrMapOvr>
    <a:masterClrMapping/>
  </p:clrMapOvr>
  <p:transition>
    <p:fade/>
    <p:spd val="med"/>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Shape 0"/>
          <p:cNvSpPr/>
          <p:nvPr/>
        </p:nvSpPr>
        <p:spPr>
          <a:xfrm>
            <a:off x="19050000" y="1270000"/>
            <a:ext cx="2540000" cy="2540000"/>
          </a:xfrm>
          <a:prstGeom prst="ellipse">
            <a:avLst/>
          </a:prstGeom>
          <a:solidFill>
            <a:srgbClr val="10B981">
              <a:alpha val="7059"/>
            </a:srgbClr>
          </a:solidFill>
          <a:ln/>
        </p:spPr>
      </p:sp>
      <p:sp>
        <p:nvSpPr>
          <p:cNvPr id="4" name="Shape 1"/>
          <p:cNvSpPr/>
          <p:nvPr/>
        </p:nvSpPr>
        <p:spPr>
          <a:xfrm>
            <a:off x="1491996" y="3908903"/>
            <a:ext cx="11214100" cy="25400"/>
          </a:xfrm>
          <a:prstGeom prst="rect">
            <a:avLst/>
          </a:prstGeom>
          <a:solidFill>
            <a:srgbClr val="10B981">
              <a:alpha val="14510"/>
            </a:srgbClr>
          </a:solidFill>
          <a:ln/>
        </p:spPr>
      </p:sp>
      <p:sp>
        <p:nvSpPr>
          <p:cNvPr id="5" name="Shape 2"/>
          <p:cNvSpPr/>
          <p:nvPr/>
        </p:nvSpPr>
        <p:spPr>
          <a:xfrm>
            <a:off x="18161000" y="1803400"/>
            <a:ext cx="2540000" cy="1016000"/>
          </a:xfrm>
          <a:prstGeom prst="rect">
            <a:avLst/>
          </a:prstGeom>
          <a:solidFill>
            <a:srgbClr val="10B981"/>
          </a:solidFill>
          <a:ln/>
        </p:spPr>
      </p:sp>
      <p:sp>
        <p:nvSpPr>
          <p:cNvPr id="6" name="Text 3"/>
          <p:cNvSpPr/>
          <p:nvPr/>
        </p:nvSpPr>
        <p:spPr>
          <a:xfrm>
            <a:off x="18161000" y="1803400"/>
            <a:ext cx="2540000" cy="1016000"/>
          </a:xfrm>
          <a:prstGeom prst="rect">
            <a:avLst/>
          </a:prstGeom>
          <a:noFill/>
          <a:ln/>
        </p:spPr>
        <p:txBody>
          <a:bodyPr wrap="none" lIns="0" tIns="0" rIns="0" bIns="0" rtlCol="0" anchor="ctr"/>
          <a:lstStyle/>
          <a:p>
            <a:pPr algn="ctr">
              <a:lnSpc>
                <a:spcPct val="100000"/>
              </a:lnSpc>
            </a:pPr>
            <a:r>
              <a:rPr lang="en-US" sz="3070" dirty="0">
                <a:solidFill>
                  <a:srgbClr val="FFFFFF"/>
                </a:solidFill>
                <a:latin typeface="Liter" pitchFamily="34" charset="0"/>
                <a:ea typeface="Liter" pitchFamily="34" charset="-122"/>
                <a:cs typeface="Liter" pitchFamily="34" charset="-120"/>
              </a:rPr>
              <a:t>GM</a:t>
            </a:r>
            <a:endParaRPr lang="en-US" sz="1600" dirty="0"/>
          </a:p>
        </p:txBody>
      </p:sp>
      <p:sp>
        <p:nvSpPr>
          <p:cNvPr id="7" name="Text 4"/>
          <p:cNvSpPr/>
          <p:nvPr/>
        </p:nvSpPr>
        <p:spPr>
          <a:xfrm rot="-5400000">
            <a:off x="20764500" y="10369169"/>
            <a:ext cx="3429000" cy="446278"/>
          </a:xfrm>
          <a:prstGeom prst="rect">
            <a:avLst/>
          </a:prstGeom>
          <a:noFill/>
          <a:ln/>
        </p:spPr>
        <p:txBody>
          <a:bodyPr wrap="none" lIns="0" tIns="0" rIns="0" bIns="0" rtlCol="0" anchor="t"/>
          <a:lstStyle/>
          <a:p>
            <a:pPr>
              <a:lnSpc>
                <a:spcPct val="100000"/>
              </a:lnSpc>
            </a:pPr>
            <a:r>
              <a:rPr lang="en-US" sz="2000" spc="100" kern="0" dirty="0">
                <a:solidFill>
                  <a:srgbClr val="10B981"/>
                </a:solidFill>
                <a:latin typeface="Quattrocento Sans" pitchFamily="34" charset="0"/>
                <a:ea typeface="Quattrocento Sans" pitchFamily="34" charset="-122"/>
                <a:cs typeface="Quattrocento Sans" pitchFamily="34" charset="-120"/>
              </a:rPr>
              <a:t>GANGA MAXX</a:t>
            </a:r>
            <a:endParaRPr lang="en-US" sz="1600" dirty="0"/>
          </a:p>
        </p:txBody>
      </p:sp>
      <p:sp>
        <p:nvSpPr>
          <p:cNvPr id="8" name="Text 5"/>
          <p:cNvSpPr/>
          <p:nvPr/>
        </p:nvSpPr>
        <p:spPr>
          <a:xfrm>
            <a:off x="1491996" y="1471295"/>
            <a:ext cx="11010773" cy="1678813"/>
          </a:xfrm>
          <a:prstGeom prst="rect">
            <a:avLst/>
          </a:prstGeom>
          <a:noFill/>
          <a:ln/>
        </p:spPr>
        <p:txBody>
          <a:bodyPr wrap="square" lIns="0" tIns="0" rIns="0" bIns="0" rtlCol="0" anchor="t"/>
          <a:lstStyle/>
          <a:p>
            <a:pPr>
              <a:lnSpc>
                <a:spcPct val="100000"/>
              </a:lnSpc>
            </a:pPr>
            <a:r>
              <a:rPr lang="en-US" sz="8000" dirty="0">
                <a:solidFill>
                  <a:srgbClr val="1A1A1A"/>
                </a:solidFill>
                <a:latin typeface="Liter" pitchFamily="34" charset="0"/>
                <a:ea typeface="Liter" pitchFamily="34" charset="-122"/>
                <a:cs typeface="Liter" pitchFamily="34" charset="-120"/>
              </a:rPr>
              <a:t>Project Abstract</a:t>
            </a:r>
            <a:endParaRPr lang="en-US" sz="1600" dirty="0"/>
          </a:p>
        </p:txBody>
      </p:sp>
      <p:sp>
        <p:nvSpPr>
          <p:cNvPr id="9" name="Text 6"/>
          <p:cNvSpPr/>
          <p:nvPr/>
        </p:nvSpPr>
        <p:spPr>
          <a:xfrm>
            <a:off x="1491996" y="4422857"/>
            <a:ext cx="11212068" cy="950712"/>
          </a:xfrm>
          <a:prstGeom prst="rect">
            <a:avLst/>
          </a:prstGeom>
          <a:noFill/>
          <a:ln/>
        </p:spPr>
        <p:txBody>
          <a:bodyPr wrap="square" lIns="0" tIns="0" rIns="0" bIns="0" rtlCol="0" anchor="t"/>
          <a:lstStyle/>
          <a:p>
            <a:pPr>
              <a:lnSpc>
                <a:spcPct val="100000"/>
              </a:lnSpc>
            </a:pPr>
            <a:r>
              <a:rPr lang="en-US" sz="3300" dirty="0">
                <a:solidFill>
                  <a:srgbClr val="10B981"/>
                </a:solidFill>
                <a:latin typeface="Liter" pitchFamily="34" charset="0"/>
                <a:ea typeface="Liter" pitchFamily="34" charset="-122"/>
                <a:cs typeface="Liter" pitchFamily="34" charset="-120"/>
              </a:rPr>
              <a:t>Elevator Pitch</a:t>
            </a:r>
            <a:endParaRPr lang="en-US" sz="1600" dirty="0"/>
          </a:p>
        </p:txBody>
      </p:sp>
      <p:sp>
        <p:nvSpPr>
          <p:cNvPr id="10" name="Text 7"/>
          <p:cNvSpPr/>
          <p:nvPr/>
        </p:nvSpPr>
        <p:spPr>
          <a:xfrm>
            <a:off x="1491996" y="5373569"/>
            <a:ext cx="16510000" cy="7580431"/>
          </a:xfrm>
          <a:prstGeom prst="rect">
            <a:avLst/>
          </a:prstGeom>
          <a:noFill/>
          <a:ln/>
        </p:spPr>
        <p:txBody>
          <a:bodyPr wrap="square" lIns="0" tIns="0" rIns="0" bIns="0" rtlCol="0" anchor="t"/>
          <a:lstStyle/>
          <a:p>
            <a:pPr>
              <a:lnSpc>
                <a:spcPct val="100000"/>
              </a:lnSpc>
            </a:pPr>
            <a:r>
              <a:rPr lang="en-US" sz="3000" dirty="0">
                <a:solidFill>
                  <a:srgbClr val="334155"/>
                </a:solidFill>
                <a:latin typeface="Plus Jakarta Sans, Inter, sans-serif" pitchFamily="34" charset="0"/>
                <a:ea typeface="Plus Jakarta Sans, Inter, sans-serif" pitchFamily="34" charset="-122"/>
                <a:cs typeface="Plus Jakarta Sans, Inter, sans-serif" pitchFamily="34" charset="-120"/>
              </a:rPr>
              <a:t>Ganga Maxx Marketplace handles the bulk distribution of commercial cleaning and hygiene products to diverse institutional buyers such as hotels, schools, and healthcare facilities. Currently, local last-mile delivery runs suffer from major operational visibility blindspots, relying on fragmented communication channels like WhatsApp, voice calls, and paper invoices, which triggers delivery quantity disputes and missed drops.</a:t>
            </a:r>
            <a:endParaRPr lang="en-US" sz="1600" dirty="0"/>
          </a:p>
          <a:p>
            <a:pPr algn="just">
              <a:lnSpc>
                <a:spcPct val="100000"/>
              </a:lnSpc>
              <a:spcBef>
                <a:spcPts val="2500"/>
              </a:spcBef>
            </a:pPr>
            <a:r>
              <a:rPr lang="en-US" sz="3000" dirty="0">
                <a:solidFill>
                  <a:srgbClr val="334155"/>
                </a:solidFill>
                <a:latin typeface="Plus Jakarta Sans, Inter, sans-serif" pitchFamily="34" charset="0"/>
                <a:ea typeface="Plus Jakarta Sans, Inter, sans-serif" pitchFamily="34" charset="-122"/>
                <a:cs typeface="Plus Jakarta Sans, Inter, sans-serif" pitchFamily="34" charset="-120"/>
              </a:rPr>
              <a:t>To mitigate these issues, this project introduces a web-based last-mile delivery tracking system designed to organize vehicle stops, verify SKU loads, and capture instant digital signatures and photo proof on-site. Utilizing a robust tech stack of HTML, CSS, JavaScript, Node.js, and a structured SQL database, the prototype will deliver automated alerts for skipped stops, establishing clean billing proof. The final working build will be deployed publicly by 30 June 2026, fully validating dispatch operations.</a:t>
            </a:r>
            <a:endParaRPr lang="en-US" sz="1600" dirty="0"/>
          </a:p>
        </p:txBody>
      </p:sp>
    </p:spTree>
  </p:cSld>
  <p:clrMapOvr>
    <a:masterClrMapping/>
  </p:clrMapOvr>
  <p:transition>
    <p:fade/>
    <p:spd val="med"/>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Shape 0"/>
          <p:cNvSpPr/>
          <p:nvPr/>
        </p:nvSpPr>
        <p:spPr>
          <a:xfrm>
            <a:off x="1270000" y="7620000"/>
            <a:ext cx="3175000" cy="3175000"/>
          </a:xfrm>
          <a:prstGeom prst="ellipse">
            <a:avLst/>
          </a:prstGeom>
          <a:solidFill>
            <a:srgbClr val="10B981">
              <a:alpha val="6275"/>
            </a:srgbClr>
          </a:solidFill>
          <a:ln/>
        </p:spPr>
      </p:sp>
      <p:sp>
        <p:nvSpPr>
          <p:cNvPr id="4" name="Shape 1"/>
          <p:cNvSpPr/>
          <p:nvPr/>
        </p:nvSpPr>
        <p:spPr>
          <a:xfrm>
            <a:off x="5918200" y="3556000"/>
            <a:ext cx="16840200" cy="25400"/>
          </a:xfrm>
          <a:prstGeom prst="rect">
            <a:avLst/>
          </a:prstGeom>
          <a:solidFill>
            <a:srgbClr val="1A1A1A">
              <a:alpha val="6275"/>
            </a:srgbClr>
          </a:solidFill>
          <a:ln/>
        </p:spPr>
      </p:sp>
      <p:sp>
        <p:nvSpPr>
          <p:cNvPr id="5" name="Shape 2"/>
          <p:cNvSpPr/>
          <p:nvPr/>
        </p:nvSpPr>
        <p:spPr>
          <a:xfrm>
            <a:off x="1524000" y="1651000"/>
            <a:ext cx="2540000" cy="952500"/>
          </a:xfrm>
          <a:prstGeom prst="rect">
            <a:avLst/>
          </a:prstGeom>
          <a:solidFill>
            <a:srgbClr val="10B981"/>
          </a:solidFill>
          <a:ln/>
        </p:spPr>
      </p:sp>
      <p:sp>
        <p:nvSpPr>
          <p:cNvPr id="6" name="Text 3"/>
          <p:cNvSpPr/>
          <p:nvPr/>
        </p:nvSpPr>
        <p:spPr>
          <a:xfrm>
            <a:off x="1524000" y="1651000"/>
            <a:ext cx="2540000" cy="952500"/>
          </a:xfrm>
          <a:prstGeom prst="rect">
            <a:avLst/>
          </a:prstGeom>
          <a:noFill/>
          <a:ln/>
        </p:spPr>
        <p:txBody>
          <a:bodyPr wrap="none" lIns="0" tIns="0" rIns="0" bIns="0" rtlCol="0" anchor="ctr"/>
          <a:lstStyle/>
          <a:p>
            <a:pPr algn="ctr">
              <a:lnSpc>
                <a:spcPct val="100000"/>
              </a:lnSpc>
            </a:pPr>
            <a:r>
              <a:rPr lang="en-US" sz="3070" dirty="0">
                <a:solidFill>
                  <a:srgbClr val="FFFFFF"/>
                </a:solidFill>
                <a:latin typeface="Liter" pitchFamily="34" charset="0"/>
                <a:ea typeface="Liter" pitchFamily="34" charset="-122"/>
                <a:cs typeface="Liter" pitchFamily="34" charset="-120"/>
              </a:rPr>
              <a:t>GM</a:t>
            </a:r>
            <a:endParaRPr lang="en-US" sz="1600" dirty="0"/>
          </a:p>
        </p:txBody>
      </p:sp>
      <p:sp>
        <p:nvSpPr>
          <p:cNvPr id="7" name="Shape 4"/>
          <p:cNvSpPr/>
          <p:nvPr/>
        </p:nvSpPr>
        <p:spPr>
          <a:xfrm>
            <a:off x="0" y="10439400"/>
            <a:ext cx="635000" cy="3175000"/>
          </a:xfrm>
          <a:prstGeom prst="rect">
            <a:avLst/>
          </a:prstGeom>
          <a:solidFill>
            <a:srgbClr val="FFFFFF"/>
          </a:solidFill>
          <a:ln/>
        </p:spPr>
      </p:sp>
      <p:sp>
        <p:nvSpPr>
          <p:cNvPr id="8" name="Text 5"/>
          <p:cNvSpPr/>
          <p:nvPr/>
        </p:nvSpPr>
        <p:spPr>
          <a:xfrm rot="16200000">
            <a:off x="23368" y="10441051"/>
            <a:ext cx="3556000" cy="446278"/>
          </a:xfrm>
          <a:prstGeom prst="rect">
            <a:avLst/>
          </a:prstGeom>
          <a:noFill/>
          <a:ln/>
        </p:spPr>
        <p:txBody>
          <a:bodyPr wrap="none" lIns="0" tIns="0" rIns="0" bIns="0" rtlCol="0" anchor="t"/>
          <a:lstStyle/>
          <a:p>
            <a:pPr>
              <a:lnSpc>
                <a:spcPct val="100000"/>
              </a:lnSpc>
            </a:pPr>
            <a:r>
              <a:rPr lang="en-US" sz="2000" spc="100" kern="0" dirty="0">
                <a:solidFill>
                  <a:srgbClr val="10B981"/>
                </a:solidFill>
                <a:latin typeface="Quattrocento Sans" pitchFamily="34" charset="0"/>
                <a:ea typeface="Quattrocento Sans" pitchFamily="34" charset="-122"/>
                <a:cs typeface="Quattrocento Sans" pitchFamily="34" charset="-120"/>
              </a:rPr>
              <a:t>GANGA MAXX</a:t>
            </a:r>
            <a:endParaRPr lang="en-US" sz="1600" dirty="0"/>
          </a:p>
        </p:txBody>
      </p:sp>
      <p:sp>
        <p:nvSpPr>
          <p:cNvPr id="9" name="Text 6"/>
          <p:cNvSpPr/>
          <p:nvPr/>
        </p:nvSpPr>
        <p:spPr>
          <a:xfrm>
            <a:off x="5921248" y="1270000"/>
            <a:ext cx="16839311" cy="1387729"/>
          </a:xfrm>
          <a:prstGeom prst="rect">
            <a:avLst/>
          </a:prstGeom>
          <a:noFill/>
          <a:ln/>
        </p:spPr>
        <p:txBody>
          <a:bodyPr wrap="square" lIns="0" tIns="0" rIns="0" bIns="0" rtlCol="0" anchor="t"/>
          <a:lstStyle/>
          <a:p>
            <a:pPr>
              <a:lnSpc>
                <a:spcPct val="100000"/>
              </a:lnSpc>
            </a:pPr>
            <a:r>
              <a:rPr lang="en-US" sz="6000" dirty="0">
                <a:solidFill>
                  <a:srgbClr val="1A1A1A"/>
                </a:solidFill>
                <a:latin typeface="Liter" pitchFamily="34" charset="0"/>
                <a:ea typeface="Liter" pitchFamily="34" charset="-122"/>
                <a:cs typeface="Liter" pitchFamily="34" charset="-120"/>
              </a:rPr>
              <a:t>Week 1 Progress &amp; Project Plan</a:t>
            </a:r>
            <a:endParaRPr lang="en-US" sz="1600" dirty="0"/>
          </a:p>
        </p:txBody>
      </p:sp>
      <p:sp>
        <p:nvSpPr>
          <p:cNvPr id="10" name="Text 7"/>
          <p:cNvSpPr/>
          <p:nvPr/>
        </p:nvSpPr>
        <p:spPr>
          <a:xfrm>
            <a:off x="5921248" y="2921000"/>
            <a:ext cx="8890000" cy="647192"/>
          </a:xfrm>
          <a:prstGeom prst="rect">
            <a:avLst/>
          </a:prstGeom>
          <a:noFill/>
          <a:ln/>
        </p:spPr>
        <p:txBody>
          <a:bodyPr wrap="square" lIns="0" tIns="0" rIns="0" bIns="0" rtlCol="0" anchor="t"/>
          <a:lstStyle/>
          <a:p>
            <a:pPr>
              <a:lnSpc>
                <a:spcPct val="100000"/>
              </a:lnSpc>
            </a:pPr>
            <a:r>
              <a:rPr lang="en-US" sz="3330" dirty="0">
                <a:solidFill>
                  <a:srgbClr val="10B981"/>
                </a:solidFill>
                <a:latin typeface="Quattrocento Sans" pitchFamily="34" charset="0"/>
                <a:ea typeface="Quattrocento Sans" pitchFamily="34" charset="-122"/>
                <a:cs typeface="Quattrocento Sans" pitchFamily="34" charset="-120"/>
              </a:rPr>
              <a:t>Week 1 Completed</a:t>
            </a:r>
            <a:endParaRPr lang="en-US" sz="1600" dirty="0"/>
          </a:p>
        </p:txBody>
      </p:sp>
      <p:sp>
        <p:nvSpPr>
          <p:cNvPr id="11" name="Text 8"/>
          <p:cNvSpPr/>
          <p:nvPr/>
        </p:nvSpPr>
        <p:spPr>
          <a:xfrm>
            <a:off x="5921248" y="3683000"/>
            <a:ext cx="8890000" cy="2921000"/>
          </a:xfrm>
          <a:prstGeom prst="rect">
            <a:avLst/>
          </a:prstGeom>
          <a:noFill/>
          <a:ln/>
        </p:spPr>
        <p:txBody>
          <a:bodyPr wrap="square" lIns="0" tIns="0" rIns="0" bIns="0" rtlCol="0" anchor="t"/>
          <a:lstStyle/>
          <a:p>
            <a:pPr marL="254000" indent="-254000">
              <a:lnSpc>
                <a:spcPct val="100000"/>
              </a:lnSpc>
              <a:spcBef>
                <a:spcPts val="10"/>
              </a:spcBef>
              <a:buSzPct val="100000"/>
              <a:buChar char="•"/>
            </a:pPr>
            <a:r>
              <a:rPr lang="en-US" sz="2400" dirty="0">
                <a:solidFill>
                  <a:srgbClr val="1A1A1A"/>
                </a:solidFill>
                <a:latin typeface="Quattrocento Sans" pitchFamily="34" charset="0"/>
                <a:ea typeface="Quattrocento Sans" pitchFamily="34" charset="-122"/>
                <a:cs typeface="Quattrocento Sans" pitchFamily="34" charset="-120"/>
              </a:rPr>
              <a:t>Problem statement drafted and refined</a:t>
            </a:r>
            <a:endParaRPr lang="en-US" sz="1600" dirty="0"/>
          </a:p>
          <a:p>
            <a:pPr marL="254000" indent="-254000">
              <a:lnSpc>
                <a:spcPct val="100000"/>
              </a:lnSpc>
              <a:spcBef>
                <a:spcPts val="10"/>
              </a:spcBef>
              <a:buSzPct val="100000"/>
              <a:buChar char="•"/>
            </a:pPr>
            <a:r>
              <a:rPr lang="en-US" sz="2400" dirty="0">
                <a:solidFill>
                  <a:srgbClr val="1A1A1A"/>
                </a:solidFill>
                <a:latin typeface="Quattrocento Sans" pitchFamily="34" charset="0"/>
                <a:ea typeface="Quattrocento Sans" pitchFamily="34" charset="-122"/>
                <a:cs typeface="Quattrocento Sans" pitchFamily="34" charset="-120"/>
              </a:rPr>
              <a:t>Project abstract written</a:t>
            </a:r>
            <a:endParaRPr lang="en-US" sz="1600" dirty="0"/>
          </a:p>
          <a:p>
            <a:pPr marL="254000" indent="-254000">
              <a:lnSpc>
                <a:spcPct val="100000"/>
              </a:lnSpc>
              <a:spcBef>
                <a:spcPts val="10"/>
              </a:spcBef>
              <a:buSzPct val="100000"/>
              <a:buChar char="•"/>
            </a:pPr>
            <a:r>
              <a:rPr lang="en-US" sz="2400" dirty="0">
                <a:solidFill>
                  <a:srgbClr val="1A1A1A"/>
                </a:solidFill>
                <a:latin typeface="Quattrocento Sans" pitchFamily="34" charset="0"/>
                <a:ea typeface="Quattrocento Sans" pitchFamily="34" charset="-122"/>
                <a:cs typeface="Quattrocento Sans" pitchFamily="34" charset="-120"/>
              </a:rPr>
              <a:t>5 objectives defined and documented</a:t>
            </a:r>
            <a:endParaRPr lang="en-US" sz="1600" dirty="0"/>
          </a:p>
          <a:p>
            <a:pPr marL="254000" indent="-254000">
              <a:lnSpc>
                <a:spcPct val="100000"/>
              </a:lnSpc>
              <a:spcBef>
                <a:spcPts val="10"/>
              </a:spcBef>
              <a:buSzPct val="100000"/>
              <a:buChar char="•"/>
            </a:pPr>
            <a:r>
              <a:rPr lang="en-US" sz="2400" dirty="0">
                <a:solidFill>
                  <a:srgbClr val="1A1A1A"/>
                </a:solidFill>
                <a:latin typeface="Quattrocento Sans" pitchFamily="34" charset="0"/>
                <a:ea typeface="Quattrocento Sans" pitchFamily="34" charset="-122"/>
                <a:cs typeface="Quattrocento Sans" pitchFamily="34" charset="-120"/>
              </a:rPr>
              <a:t>Wireframes sketched for 3 screens: input form, delivery status timeline, dashboard</a:t>
            </a:r>
            <a:endParaRPr lang="en-US" sz="1600" dirty="0"/>
          </a:p>
          <a:p>
            <a:pPr marL="254000" indent="-254000">
              <a:lnSpc>
                <a:spcPct val="100000"/>
              </a:lnSpc>
              <a:spcBef>
                <a:spcPts val="10"/>
              </a:spcBef>
              <a:buSzPct val="100000"/>
              <a:buChar char="•"/>
            </a:pPr>
            <a:r>
              <a:rPr lang="en-US" sz="2400" dirty="0">
                <a:solidFill>
                  <a:srgbClr val="1A1A1A"/>
                </a:solidFill>
                <a:latin typeface="Quattrocento Sans" pitchFamily="34" charset="0"/>
                <a:ea typeface="Quattrocento Sans" pitchFamily="34" charset="-122"/>
                <a:cs typeface="Quattrocento Sans" pitchFamily="34" charset="-120"/>
              </a:rPr>
              <a:t>GitHub repository created with /frontend, /backend, /docs, /tests folders</a:t>
            </a:r>
            <a:endParaRPr lang="en-US" sz="1600" dirty="0"/>
          </a:p>
          <a:p>
            <a:pPr marL="254000" indent="-254000">
              <a:lnSpc>
                <a:spcPct val="100000"/>
              </a:lnSpc>
              <a:spcBef>
                <a:spcPts val="10"/>
              </a:spcBef>
              <a:buSzPct val="100000"/>
              <a:buChar char="•"/>
            </a:pPr>
            <a:r>
              <a:rPr lang="en-US" sz="2400" dirty="0">
                <a:solidFill>
                  <a:srgbClr val="1A1A1A"/>
                </a:solidFill>
                <a:latin typeface="Quattrocento Sans" pitchFamily="34" charset="0"/>
                <a:ea typeface="Quattrocento Sans" pitchFamily="34" charset="-122"/>
                <a:cs typeface="Quattrocento Sans" pitchFamily="34" charset="-120"/>
              </a:rPr>
              <a:t>Development environment set up (VS Code, Node.js, Postman)</a:t>
            </a:r>
            <a:endParaRPr lang="en-US" sz="1600" dirty="0"/>
          </a:p>
        </p:txBody>
      </p:sp>
      <p:sp>
        <p:nvSpPr>
          <p:cNvPr id="12" name="Text 9"/>
          <p:cNvSpPr/>
          <p:nvPr/>
        </p:nvSpPr>
        <p:spPr>
          <a:xfrm>
            <a:off x="5921248" y="7112000"/>
            <a:ext cx="8890000" cy="508000"/>
          </a:xfrm>
          <a:prstGeom prst="rect">
            <a:avLst/>
          </a:prstGeom>
          <a:noFill/>
          <a:ln/>
        </p:spPr>
        <p:txBody>
          <a:bodyPr wrap="square" lIns="0" tIns="0" rIns="0" bIns="0" rtlCol="0" anchor="t"/>
          <a:lstStyle/>
          <a:p>
            <a:pPr>
              <a:lnSpc>
                <a:spcPct val="100000"/>
              </a:lnSpc>
            </a:pPr>
            <a:r>
              <a:rPr lang="en-US" sz="3330" dirty="0">
                <a:solidFill>
                  <a:srgbClr val="10B981"/>
                </a:solidFill>
                <a:latin typeface="Quattrocento Sans" pitchFamily="34" charset="0"/>
                <a:ea typeface="Quattrocento Sans" pitchFamily="34" charset="-122"/>
                <a:cs typeface="Quattrocento Sans" pitchFamily="34" charset="-120"/>
              </a:rPr>
              <a:t>4-Week Timeline</a:t>
            </a:r>
            <a:endParaRPr lang="en-US"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921248" y="7821696"/>
          <a:ext cx="16510000" cy="3676419"/>
        </p:xfrm>
        <a:graphic>
          <a:graphicData uri="http://schemas.openxmlformats.org/drawingml/2006/table">
            <a:tbl>
              <a:tblPr/>
              <a:tblGrid>
                <a:gridCol w="2476500"/>
                <a:gridCol w="5778500"/>
                <a:gridCol w="8255000"/>
              </a:tblGrid>
              <a:tr h="735284">
                <a:tc>
                  <a:txBody>
                    <a:bodyPr/>
                    <a:lstStyle/>
                    <a:p>
                      <a:pPr algn="l"/>
                      <a:r>
                        <a:rPr lang="en-US" sz="1800" b="1" u="none" dirty="0">
                          <a:solidFill>
                            <a:srgbClr val="FFFFFF"/>
                          </a:solidFill>
                          <a:latin typeface="QuattrocentoSans" pitchFamily="34" charset="0"/>
                          <a:ea typeface="QuattrocentoSans" pitchFamily="34" charset="-122"/>
                          <a:cs typeface="QuattrocentoSans" pitchFamily="34" charset="-120"/>
                        </a:rPr>
                        <a:t>Week</a:t>
                      </a:r>
                      <a:endParaRPr lang="en-US" sz="1800" dirty="0">
                        <a:latin typeface="QuattrocentoSans" charset="0"/>
                        <a:ea typeface="QuattrocentoSans" charset="0"/>
                        <a:cs typeface="QuattrocentoSans" charset="0"/>
                      </a:endParaRPr>
                    </a:p>
                  </a:txBody>
                  <a:tcPr marL="91440" marR="91440"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10B981"/>
                    </a:solidFill>
                  </a:tcPr>
                </a:tc>
                <a:tc>
                  <a:txBody>
                    <a:bodyPr/>
                    <a:lstStyle/>
                    <a:p>
                      <a:pPr algn="l"/>
                      <a:r>
                        <a:rPr lang="en-US" sz="1800" b="1" u="none" dirty="0">
                          <a:solidFill>
                            <a:srgbClr val="FFFFFF"/>
                          </a:solidFill>
                          <a:latin typeface="QuattrocentoSans" pitchFamily="34" charset="0"/>
                          <a:ea typeface="QuattrocentoSans" pitchFamily="34" charset="-122"/>
                          <a:cs typeface="QuattrocentoSans" pitchFamily="34" charset="-120"/>
                        </a:rPr>
                        <a:t>Focus</a:t>
                      </a:r>
                      <a:endParaRPr lang="en-US" sz="1800" dirty="0">
                        <a:latin typeface="QuattrocentoSans" charset="0"/>
                        <a:ea typeface="QuattrocentoSans" charset="0"/>
                        <a:cs typeface="QuattrocentoSans" charset="0"/>
                      </a:endParaRPr>
                    </a:p>
                  </a:txBody>
                  <a:tcPr marL="91440" marR="91440"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10B981"/>
                    </a:solidFill>
                  </a:tcPr>
                </a:tc>
                <a:tc>
                  <a:txBody>
                    <a:bodyPr/>
                    <a:lstStyle/>
                    <a:p>
                      <a:pPr algn="l"/>
                      <a:r>
                        <a:rPr lang="en-US" sz="1800" b="1" u="none" dirty="0">
                          <a:solidFill>
                            <a:srgbClr val="FFFFFF"/>
                          </a:solidFill>
                          <a:latin typeface="QuattrocentoSans" pitchFamily="34" charset="0"/>
                          <a:ea typeface="QuattrocentoSans" pitchFamily="34" charset="-122"/>
                          <a:cs typeface="QuattrocentoSans" pitchFamily="34" charset="-120"/>
                        </a:rPr>
                        <a:t>Deliverables</a:t>
                      </a:r>
                      <a:endParaRPr lang="en-US" sz="1800" dirty="0">
                        <a:latin typeface="QuattrocentoSans" charset="0"/>
                        <a:ea typeface="QuattrocentoSans" charset="0"/>
                        <a:cs typeface="QuattrocentoSans" charset="0"/>
                      </a:endParaRPr>
                    </a:p>
                  </a:txBody>
                  <a:tcPr marL="91440" marR="91440"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10B981"/>
                    </a:solidFill>
                  </a:tcPr>
                </a:tc>
              </a:tr>
              <a:tr h="735284">
                <a:tc>
                  <a:txBody>
                    <a:bodyPr/>
                    <a:lstStyle/>
                    <a:p>
                      <a:pPr algn="l"/>
                      <a:r>
                        <a:rPr lang="en-US" sz="1800" u="none" dirty="0">
                          <a:solidFill>
                            <a:srgbClr val="1A1A1A"/>
                          </a:solidFill>
                          <a:latin typeface="QuattrocentoSans" pitchFamily="34" charset="0"/>
                          <a:ea typeface="QuattrocentoSans" pitchFamily="34" charset="-122"/>
                          <a:cs typeface="QuattrocentoSans" pitchFamily="34" charset="-120"/>
                        </a:rPr>
                        <a:t>Week 1</a:t>
                      </a:r>
                      <a:endParaRPr lang="en-US" sz="1800" dirty="0">
                        <a:latin typeface="QuattrocentoSans" charset="0"/>
                        <a:ea typeface="QuattrocentoSans" charset="0"/>
                        <a:cs typeface="QuattrocentoSans" charset="0"/>
                      </a:endParaRPr>
                    </a:p>
                  </a:txBody>
                  <a:tcPr marL="91440" marR="91440"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l"/>
                      <a:r>
                        <a:rPr lang="en-US" sz="1800" u="none" dirty="0">
                          <a:solidFill>
                            <a:srgbClr val="1A1A1A"/>
                          </a:solidFill>
                          <a:latin typeface="QuattrocentoSans" pitchFamily="34" charset="0"/>
                          <a:ea typeface="QuattrocentoSans" pitchFamily="34" charset="-122"/>
                          <a:cs typeface="QuattrocentoSans" pitchFamily="34" charset="-120"/>
                        </a:rPr>
                        <a:t>Planning &amp; Setup</a:t>
                      </a:r>
                      <a:endParaRPr lang="en-US" sz="1800" dirty="0">
                        <a:latin typeface="QuattrocentoSans" charset="0"/>
                        <a:ea typeface="QuattrocentoSans" charset="0"/>
                        <a:cs typeface="QuattrocentoSans" charset="0"/>
                      </a:endParaRPr>
                    </a:p>
                  </a:txBody>
                  <a:tcPr marL="91440" marR="91440"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l"/>
                      <a:r>
                        <a:rPr lang="en-US" sz="1800" u="none" dirty="0">
                          <a:solidFill>
                            <a:srgbClr val="1A1A1A"/>
                          </a:solidFill>
                          <a:latin typeface="QuattrocentoSans" pitchFamily="34" charset="0"/>
                          <a:ea typeface="QuattrocentoSans" pitchFamily="34" charset="-122"/>
                          <a:cs typeface="QuattrocentoSans" pitchFamily="34" charset="-120"/>
                        </a:rPr>
                        <a:t>Problem statement, abstract, objectives, wireframes, GitHub repo, dev environment</a:t>
                      </a:r>
                      <a:endParaRPr lang="en-US" sz="1800" dirty="0">
                        <a:latin typeface="QuattrocentoSans" charset="0"/>
                        <a:ea typeface="QuattrocentoSans" charset="0"/>
                        <a:cs typeface="QuattrocentoSans" charset="0"/>
                      </a:endParaRPr>
                    </a:p>
                  </a:txBody>
                  <a:tcPr marL="91440" marR="91440"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735284">
                <a:tc>
                  <a:txBody>
                    <a:bodyPr/>
                    <a:lstStyle/>
                    <a:p>
                      <a:pPr algn="l"/>
                      <a:r>
                        <a:rPr lang="en-US" sz="1800" u="none" dirty="0">
                          <a:solidFill>
                            <a:srgbClr val="1A1A1A"/>
                          </a:solidFill>
                          <a:latin typeface="QuattrocentoSans" pitchFamily="34" charset="0"/>
                          <a:ea typeface="QuattrocentoSans" pitchFamily="34" charset="-122"/>
                          <a:cs typeface="QuattrocentoSans" pitchFamily="34" charset="-120"/>
                        </a:rPr>
                        <a:t>Week 2</a:t>
                      </a:r>
                      <a:endParaRPr lang="en-US" sz="1800" dirty="0">
                        <a:latin typeface="QuattrocentoSans" charset="0"/>
                        <a:ea typeface="QuattrocentoSans" charset="0"/>
                        <a:cs typeface="QuattrocentoSans" charset="0"/>
                      </a:endParaRPr>
                    </a:p>
                  </a:txBody>
                  <a:tcPr marL="91440" marR="91440"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c>
                  <a:txBody>
                    <a:bodyPr/>
                    <a:lstStyle/>
                    <a:p>
                      <a:pPr algn="l"/>
                      <a:r>
                        <a:rPr lang="en-US" sz="1800" u="none" dirty="0">
                          <a:solidFill>
                            <a:srgbClr val="1A1A1A"/>
                          </a:solidFill>
                          <a:latin typeface="QuattrocentoSans" pitchFamily="34" charset="0"/>
                          <a:ea typeface="QuattrocentoSans" pitchFamily="34" charset="-122"/>
                          <a:cs typeface="QuattrocentoSans" pitchFamily="34" charset="-120"/>
                        </a:rPr>
                        <a:t>Design &amp; Foundation</a:t>
                      </a:r>
                      <a:endParaRPr lang="en-US" sz="1800" dirty="0">
                        <a:latin typeface="QuattrocentoSans" charset="0"/>
                        <a:ea typeface="QuattrocentoSans" charset="0"/>
                        <a:cs typeface="QuattrocentoSans" charset="0"/>
                      </a:endParaRPr>
                    </a:p>
                  </a:txBody>
                  <a:tcPr marL="91440" marR="91440"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c>
                  <a:txBody>
                    <a:bodyPr/>
                    <a:lstStyle/>
                    <a:p>
                      <a:pPr algn="l"/>
                      <a:r>
                        <a:rPr lang="en-US" sz="1800" u="none" dirty="0">
                          <a:solidFill>
                            <a:srgbClr val="1A1A1A"/>
                          </a:solidFill>
                          <a:latin typeface="QuattrocentoSans" pitchFamily="34" charset="0"/>
                          <a:ea typeface="QuattrocentoSans" pitchFamily="34" charset="-122"/>
                          <a:cs typeface="QuattrocentoSans" pitchFamily="34" charset="-120"/>
                        </a:rPr>
                        <a:t>Literature survey, database design, initial code, architecture diagram</a:t>
                      </a:r>
                      <a:endParaRPr lang="en-US" sz="1800" dirty="0">
                        <a:latin typeface="QuattrocentoSans" charset="0"/>
                        <a:ea typeface="QuattrocentoSans" charset="0"/>
                        <a:cs typeface="QuattrocentoSans" charset="0"/>
                      </a:endParaRPr>
                    </a:p>
                  </a:txBody>
                  <a:tcPr marL="91440" marR="91440"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r>
              <a:tr h="735284">
                <a:tc>
                  <a:txBody>
                    <a:bodyPr/>
                    <a:lstStyle/>
                    <a:p>
                      <a:pPr algn="l"/>
                      <a:r>
                        <a:rPr lang="en-US" sz="1800" u="none" dirty="0">
                          <a:solidFill>
                            <a:srgbClr val="1A1A1A"/>
                          </a:solidFill>
                          <a:latin typeface="QuattrocentoSans" pitchFamily="34" charset="0"/>
                          <a:ea typeface="QuattrocentoSans" pitchFamily="34" charset="-122"/>
                          <a:cs typeface="QuattrocentoSans" pitchFamily="34" charset="-120"/>
                        </a:rPr>
                        <a:t>Week 3</a:t>
                      </a:r>
                      <a:endParaRPr lang="en-US" sz="1800" dirty="0">
                        <a:latin typeface="QuattrocentoSans" charset="0"/>
                        <a:ea typeface="QuattrocentoSans" charset="0"/>
                        <a:cs typeface="QuattrocentoSans" charset="0"/>
                      </a:endParaRPr>
                    </a:p>
                  </a:txBody>
                  <a:tcPr marL="91440" marR="91440"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l"/>
                      <a:r>
                        <a:rPr lang="en-US" sz="1800" u="none" dirty="0">
                          <a:solidFill>
                            <a:srgbClr val="1A1A1A"/>
                          </a:solidFill>
                          <a:latin typeface="QuattrocentoSans" pitchFamily="34" charset="0"/>
                          <a:ea typeface="QuattrocentoSans" pitchFamily="34" charset="-122"/>
                          <a:cs typeface="QuattrocentoSans" pitchFamily="34" charset="-120"/>
                        </a:rPr>
                        <a:t>Core Development</a:t>
                      </a:r>
                      <a:endParaRPr lang="en-US" sz="1800" dirty="0">
                        <a:latin typeface="QuattrocentoSans" charset="0"/>
                        <a:ea typeface="QuattrocentoSans" charset="0"/>
                        <a:cs typeface="QuattrocentoSans" charset="0"/>
                      </a:endParaRPr>
                    </a:p>
                  </a:txBody>
                  <a:tcPr marL="91440" marR="91440"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l"/>
                      <a:r>
                        <a:rPr lang="en-US" sz="1800" u="none" dirty="0">
                          <a:solidFill>
                            <a:srgbClr val="1A1A1A"/>
                          </a:solidFill>
                          <a:latin typeface="QuattrocentoSans" pitchFamily="34" charset="0"/>
                          <a:ea typeface="QuattrocentoSans" pitchFamily="34" charset="-122"/>
                          <a:cs typeface="QuattrocentoSans" pitchFamily="34" charset="-120"/>
                        </a:rPr>
                        <a:t>Feature build, API integration, testing, Review 2 presentation</a:t>
                      </a:r>
                      <a:endParaRPr lang="en-US" sz="1800" dirty="0">
                        <a:latin typeface="QuattrocentoSans" charset="0"/>
                        <a:ea typeface="QuattrocentoSans" charset="0"/>
                        <a:cs typeface="QuattrocentoSans" charset="0"/>
                      </a:endParaRPr>
                    </a:p>
                  </a:txBody>
                  <a:tcPr marL="91440" marR="91440"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735284">
                <a:tc>
                  <a:txBody>
                    <a:bodyPr/>
                    <a:lstStyle/>
                    <a:p>
                      <a:pPr algn="l"/>
                      <a:r>
                        <a:rPr lang="en-US" sz="1800" u="none" dirty="0">
                          <a:solidFill>
                            <a:srgbClr val="1A1A1A"/>
                          </a:solidFill>
                          <a:latin typeface="QuattrocentoSans" pitchFamily="34" charset="0"/>
                          <a:ea typeface="QuattrocentoSans" pitchFamily="34" charset="-122"/>
                          <a:cs typeface="QuattrocentoSans" pitchFamily="34" charset="-120"/>
                        </a:rPr>
                        <a:t>Week 4</a:t>
                      </a:r>
                      <a:endParaRPr lang="en-US" sz="1800" dirty="0">
                        <a:latin typeface="QuattrocentoSans" charset="0"/>
                        <a:ea typeface="QuattrocentoSans" charset="0"/>
                        <a:cs typeface="QuattrocentoSans" charset="0"/>
                      </a:endParaRPr>
                    </a:p>
                  </a:txBody>
                  <a:tcPr marL="91440" marR="91440"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c>
                  <a:txBody>
                    <a:bodyPr/>
                    <a:lstStyle/>
                    <a:p>
                      <a:pPr algn="l"/>
                      <a:r>
                        <a:rPr lang="en-US" sz="1800" u="none" dirty="0">
                          <a:solidFill>
                            <a:srgbClr val="1A1A1A"/>
                          </a:solidFill>
                          <a:latin typeface="QuattrocentoSans" pitchFamily="34" charset="0"/>
                          <a:ea typeface="QuattrocentoSans" pitchFamily="34" charset="-122"/>
                          <a:cs typeface="QuattrocentoSans" pitchFamily="34" charset="-120"/>
                        </a:rPr>
                        <a:t>Integration &amp; Deploy</a:t>
                      </a:r>
                      <a:endParaRPr lang="en-US" sz="1800" dirty="0">
                        <a:latin typeface="QuattrocentoSans" charset="0"/>
                        <a:ea typeface="QuattrocentoSans" charset="0"/>
                        <a:cs typeface="QuattrocentoSans" charset="0"/>
                      </a:endParaRPr>
                    </a:p>
                  </a:txBody>
                  <a:tcPr marL="91440" marR="91440"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c>
                  <a:txBody>
                    <a:bodyPr/>
                    <a:lstStyle/>
                    <a:p>
                      <a:pPr algn="l"/>
                      <a:r>
                        <a:rPr lang="en-US" sz="1800" u="none" dirty="0">
                          <a:solidFill>
                            <a:srgbClr val="1A1A1A"/>
                          </a:solidFill>
                          <a:latin typeface="QuattrocentoSans" pitchFamily="34" charset="0"/>
                          <a:ea typeface="QuattrocentoSans" pitchFamily="34" charset="-122"/>
                          <a:cs typeface="QuattrocentoSans" pitchFamily="34" charset="-120"/>
                        </a:rPr>
                        <a:t>Full build, deployment, final testing, report, demo video, Review 3</a:t>
                      </a:r>
                      <a:endParaRPr lang="en-US" sz="1800" dirty="0">
                        <a:latin typeface="QuattrocentoSans" charset="0"/>
                        <a:ea typeface="QuattrocentoSans" charset="0"/>
                        <a:cs typeface="QuattrocentoSans" charset="0"/>
                      </a:endParaRPr>
                    </a:p>
                  </a:txBody>
                  <a:tcPr marL="91440" marR="91440"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8F9FA"/>
                    </a:solidFill>
                  </a:tcPr>
                </a:tc>
              </a:tr>
            </a:tbl>
          </a:graphicData>
        </a:graphic>
      </p:graphicFrame>
      <p:sp>
        <p:nvSpPr>
          <p:cNvPr id="14" name="Text 10"/>
          <p:cNvSpPr/>
          <p:nvPr/>
        </p:nvSpPr>
        <p:spPr>
          <a:xfrm>
            <a:off x="5921248" y="12333871"/>
            <a:ext cx="16839311" cy="661152"/>
          </a:xfrm>
          <a:prstGeom prst="rect">
            <a:avLst/>
          </a:prstGeom>
          <a:noFill/>
          <a:ln/>
        </p:spPr>
        <p:txBody>
          <a:bodyPr wrap="square" lIns="0" tIns="0" rIns="0" bIns="0" rtlCol="0" anchor="t"/>
          <a:lstStyle/>
          <a:p>
            <a:pPr algn="ctr">
              <a:lnSpc>
                <a:spcPct val="100000"/>
              </a:lnSpc>
            </a:pPr>
            <a:r>
              <a:rPr lang="en-US" sz="2800" b="1" dirty="0">
                <a:solidFill>
                  <a:srgbClr val="1A1A1A"/>
                </a:solidFill>
                <a:latin typeface="Liter" pitchFamily="34" charset="0"/>
                <a:ea typeface="Liter" pitchFamily="34" charset="-122"/>
                <a:cs typeface="Liter" pitchFamily="34" charset="-120"/>
              </a:rPr>
              <a:t>Thank you. We welcome your feedback and questions.</a:t>
            </a:r>
            <a:endParaRPr lang="en-US" sz="1600" dirty="0"/>
          </a:p>
        </p:txBody>
      </p:sp>
    </p:spTree>
  </p:cSld>
  <p:clrMapOvr>
    <a:masterClrMapping/>
  </p:clrMapOvr>
  <p:transition>
    <p:fade/>
    <p:spd val="med"/>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B2B Cleaning Supplies Last-Mile Delivery Tracker — Review 1</dc:title>
  <dc:subject>B2B Cleaning Supplies Last-Mile Delivery Tracker — Review 1</dc:subject>
  <dc:creator>Kimi</dc:creator>
  <cp:lastModifiedBy>Kimi</cp:lastModifiedBy>
  <cp:revision>1</cp:revision>
  <dcterms:created xsi:type="dcterms:W3CDTF">2026-06-05T17:43:26Z</dcterms:created>
  <dcterms:modified xsi:type="dcterms:W3CDTF">2026-06-05T17:43:26Z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{"Label":"B2B Cleaning Supplies Last-Mile Delivery Tracker — Review 1","ContentProducer":"001191110108MACG2KBH8F10000","ProduceID":"19e989b6-8932-85a9-8000-000052f0a03c","ReservedCode1":"","ContentPropagator":"001191110108MACG2KBH8F20000","PropagateID":"19e989b6-8932-85a9-8000-000052f0a03c","ReservedCode2":""}</vt:lpwstr>
  </property>
</Properties>
</file>