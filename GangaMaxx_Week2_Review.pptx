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B5563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1C8C90">
              <a:alpha val="5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1C8C90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79644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2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 INTERNSHIP REVIEW  ·  RESEARCH &amp; SYSTEM ANALYSIS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7432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GangaMaxx B2B Delivery Tracker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3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Last-Mile Delivery &amp; Dispatch System for Institutional Cleaning Supply Logistics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4617720"/>
            <a:ext cx="2926080" cy="0"/>
          </a:xfrm>
          <a:prstGeom prst="line">
            <a:avLst/>
          </a:prstGeom>
          <a:noFill/>
          <a:ln w="19050">
            <a:solidFill>
              <a:srgbClr val="1C8C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800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Thota Shashank   |   G.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Goverdhan </a:t>
            </a:r>
            <a:r>
              <a:rPr lang="en-IN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 Gautham Krishna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300" dirty="0">
                <a:solidFill>
                  <a:srgbClr val="AFC9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Ganga Maxx Marketplace  |  19–20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Recap: The Problem We're Solving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583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Ganga Maxx Marketplace delivers bulk cleaning and hygiene products to institutional clients — hospitals, hotels, schools, and dealers — across the Hyderabad / Ranga Reddy region.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09067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274320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centralized delivery records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77640" y="27432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0" y="2971800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30906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74320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Verbal / WhatsApp driver instructions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82219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4050792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16966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3822192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digital proof of delivery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977640" y="382219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114800" y="4050792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4169664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90872" y="3822192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formal tiered quotations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901184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" y="5129784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248656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61872" y="4901184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fleet / driver visibility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977640" y="4901184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114800" y="5129784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672" y="5248656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690872" y="4901184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live order status for customers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7635240" y="1554480"/>
            <a:ext cx="3977640" cy="4572000"/>
          </a:xfrm>
          <a:prstGeom prst="roundRect">
            <a:avLst>
              <a:gd name="adj" fmla="val 2299"/>
            </a:avLst>
          </a:prstGeom>
          <a:solidFill>
            <a:srgbClr val="073C46"/>
          </a:solidFill>
        </p:spPr>
      </p:sp>
      <p:sp>
        <p:nvSpPr>
          <p:cNvPr id="30" name="Shape 22"/>
          <p:cNvSpPr/>
          <p:nvPr/>
        </p:nvSpPr>
        <p:spPr>
          <a:xfrm>
            <a:off x="7955280" y="187452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7926" y="2017166"/>
            <a:ext cx="263347" cy="263347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955280" y="2542032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33" name="Text 24"/>
          <p:cNvSpPr/>
          <p:nvPr/>
        </p:nvSpPr>
        <p:spPr>
          <a:xfrm>
            <a:off x="7955280" y="3017520"/>
            <a:ext cx="333756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manual, verbal coordination with a centralized, role-based web system covering orders, dispatch, route optimization, proof of delivery, and customer visibility — built and demonstrated as a working prototype within the 4-week internship.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GangaMaxx Last-Mile Delivery Tracker  |  Week 2 Review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· 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Research Says: Route Efficiency &amp; Cost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56232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Last-mile is the costliest logistics leg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5038344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research places last-mile delivery at roughly half of total logistics cost, making route efficiency the single highest-leverage improvement available to a distributor.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892808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56232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 optimization directly cuts cost &amp; time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64808" y="2468880"/>
            <a:ext cx="5038344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Studies on automated route optimization report reductions of up to 10% in distance travelled and resources required compared to manual, driver-decided routing.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224528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4340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187952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AI-assisted planning outperforms manual dispatch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49808" y="4800600"/>
            <a:ext cx="5038344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Comparative studies on AI-trained routing models show prediction accuracy improving by over 35% versus human-only planning at scale — manual dispatch cannot keep pace with growing stop volume.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224528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4340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187952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B2B buyers now expect B2C-grade delivery speed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64808" y="4800600"/>
            <a:ext cx="5038344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Capgemini Research Institute survey data found that more than half of B2B buyers would switch suppliers for faster, more transparent delivery — visibility is now a competitive requirement, not a bonus.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GangaMaxx Last-Mile Delivery Tracker  |  Week 2 Review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· 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Research Says: Proof &amp; Trust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56232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POD reduces disputes sharply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5038344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data shows organizations adopting digital proof-of-delivery — signature, timestamp, geotag — cut delivery disputes by up to 80% versus paper-based confirmation.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892808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56232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Electronic POD improves downstream operations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64808" y="2468880"/>
            <a:ext cx="5038344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Transportation Research Board data cited 67% ePOD adoption among leading carriers, with reported gains including fewer disputes and faster invoice processing cycles.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224528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4340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187952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Paper-based POD is the weak link for SMEs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49808" y="4800600"/>
            <a:ext cx="5038344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Smaller distributors in India still largely rely on paper signatures or WhatsApp photos as delivery proof — both are easily lost, hard to audit, and disconnected from order records.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224528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4340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187952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ePOD only pays off when tied to the order record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64808" y="4800600"/>
            <a:ext cx="5038344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on ePOD platforms emphasizes that proof-of-delivery is most valuable when linked directly into the order/invoice system — not as a disconnected photo log.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GangaMaxx Last-Mile Delivery Tracker  |  Week 2 Review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· EXISTING SYSTEMS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System Analysis 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4F8F8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777240"/>
          </a:xfrm>
          <a:prstGeom prst="rect">
            <a:avLst/>
          </a:prstGeom>
          <a:solidFill>
            <a:srgbClr val="0B5563"/>
          </a:solidFill>
        </p:spPr>
      </p:sp>
      <p:sp>
        <p:nvSpPr>
          <p:cNvPr id="6" name="Text 4"/>
          <p:cNvSpPr/>
          <p:nvPr/>
        </p:nvSpPr>
        <p:spPr>
          <a:xfrm>
            <a:off x="777240" y="1810512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Locus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BY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3PLs and CPG brands needing multi-carrier logistics orchestration.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AI-driven dispatch, dynamic re-optimization, and multi-carrier allocation across large logistics networks.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457200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FBEFEA"/>
          </a:solidFill>
        </p:spPr>
      </p:sp>
      <p:sp>
        <p:nvSpPr>
          <p:cNvPr id="12" name="Shape 10"/>
          <p:cNvSpPr/>
          <p:nvPr/>
        </p:nvSpPr>
        <p:spPr>
          <a:xfrm>
            <a:off x="932688" y="4709160"/>
            <a:ext cx="329184" cy="329184"/>
          </a:xfrm>
          <a:prstGeom prst="ellipse">
            <a:avLst/>
          </a:prstGeom>
          <a:solidFill>
            <a:srgbClr val="B0463B"/>
          </a:solidFill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276" y="4794748"/>
            <a:ext cx="158008" cy="1580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53312" y="4727448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B04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 FOR GANGAMAXX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32688" y="5111496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Targets enterprise-scale network orchestration with custom enterprise pricing — far beyond what a single-region institutional cleaning supplier needs or can justify.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69164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4F8F8"/>
          </a:solidFill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1691640"/>
            <a:ext cx="5440680" cy="777240"/>
          </a:xfrm>
          <a:prstGeom prst="rect">
            <a:avLst/>
          </a:prstGeom>
          <a:solidFill>
            <a:srgbClr val="0B5563"/>
          </a:solidFill>
        </p:spPr>
      </p:sp>
      <p:sp>
        <p:nvSpPr>
          <p:cNvPr id="18" name="Text 15"/>
          <p:cNvSpPr/>
          <p:nvPr/>
        </p:nvSpPr>
        <p:spPr>
          <a:xfrm>
            <a:off x="6400800" y="1810512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Tookan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400800" y="260604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BY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0" y="283464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SMBs and startups needing fast, customizable delivery workflows.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00800" y="33832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0" y="361188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delivery management with task assignment, basic route planning, and customer notifications for small fleets.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0" y="457200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FBEFEA"/>
          </a:solidFill>
        </p:spPr>
      </p:sp>
      <p:sp>
        <p:nvSpPr>
          <p:cNvPr id="24" name="Shape 21"/>
          <p:cNvSpPr/>
          <p:nvPr/>
        </p:nvSpPr>
        <p:spPr>
          <a:xfrm>
            <a:off x="6556248" y="4709160"/>
            <a:ext cx="329184" cy="329184"/>
          </a:xfrm>
          <a:prstGeom prst="ellipse">
            <a:avLst/>
          </a:prstGeom>
          <a:solidFill>
            <a:srgbClr val="B0463B"/>
          </a:solidFill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1836" y="4794748"/>
            <a:ext cx="158008" cy="1580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76872" y="4727448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B04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 FOR GANGAMAXX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556248" y="5111496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Generic task-dispatch tool — no built-in B2B tiered pricing/credit logic, no quotation builder, and no chemical-safety (MSDS) handling needed for cleaning-supply orders.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GangaMaxx Last-Mile Delivery Tracker  |  Week 2 Review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·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Systems vs. GangaMaxx Tracker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691640"/>
          <a:ext cx="11064240" cy="448056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5600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Criteria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C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Existing Tools (LogiNext / FarEye / Locus / Tookan)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C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GangaMaxx Tracker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C4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Target scale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4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Enterprise / multi-region fleets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73C4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Single-warehouse SME distributor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Pricing fit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4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Per-driver / custom enterprise quotes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73C4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Built in-house, zero license cost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B2B tier pricing &amp; credit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4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included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73C4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Platinum/Gold/Silver/Dealer tiers + credit status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Route optimization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4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Available, but config-heavy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73C4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One-click Nearest-Neighbor (Haversine)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Proof of delivery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4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Photo + signature (generic)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73C4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Photo + signature + qty, tied to order record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self-service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4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Branded tracking pages (FarEye only)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73C4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Dedicated institutional customer portal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Chemical / MSDS handling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4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addressed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73C4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MSDS flag + safety notes per product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GangaMaxx Last-Mile Delivery Tracker  |  Week 2 Review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· PROPOSED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System: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</p:spPr>
      </p:sp>
      <p:sp>
        <p:nvSpPr>
          <p:cNvPr id="5" name="Text 3"/>
          <p:cNvSpPr/>
          <p:nvPr/>
        </p:nvSpPr>
        <p:spPr>
          <a:xfrm>
            <a:off x="777240" y="178308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73C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GangaMaxx Tracker </a:t>
            </a:r>
            <a:r>
              <a:rPr lang="en-US" sz="14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a role-based web system for B2B last-mile delivery. It addresses the core gap identified in research and existing tools — that generic logistics platforms are too costly and too generic for a single-warehouse institutional distributor — by combining tiered B2B order management, AI-assisted route planning, and digital proof of delivery in one purpose-built application.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0B5563"/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59052" y="3867912"/>
            <a:ext cx="585216" cy="585216"/>
          </a:xfrm>
          <a:prstGeom prst="ellipse">
            <a:avLst/>
          </a:prstGeom>
          <a:solidFill>
            <a:srgbClr val="073C46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208" y="4020068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61772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Admin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502920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quotations, manages CRM &amp; orders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3280" y="3611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0B5563"/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93692" y="3867912"/>
            <a:ext cx="585216" cy="585216"/>
          </a:xfrm>
          <a:prstGeom prst="ellipse">
            <a:avLst/>
          </a:prstGeom>
          <a:solidFill>
            <a:srgbClr val="073C46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848" y="4020068"/>
            <a:ext cx="280904" cy="280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461772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Driver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502920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Executes runs, captures POD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7920" y="3611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0B5563"/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28332" y="3867912"/>
            <a:ext cx="585216" cy="585216"/>
          </a:xfrm>
          <a:prstGeom prst="ellipse">
            <a:avLst/>
          </a:prstGeom>
          <a:solidFill>
            <a:srgbClr val="073C46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488" y="4020068"/>
            <a:ext cx="280904" cy="2809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461772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Warehouse Staff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502920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pending orders queue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52560" y="3611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0B5563"/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62972" y="3867912"/>
            <a:ext cx="585216" cy="585216"/>
          </a:xfrm>
          <a:prstGeom prst="ellipse">
            <a:avLst/>
          </a:prstGeom>
          <a:solidFill>
            <a:srgbClr val="073C46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5128" y="4020068"/>
            <a:ext cx="280904" cy="280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461772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Institutional Customer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35440" y="502920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own orders &amp; deliveries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GangaMaxx Last-Mile Delivery Tracker  |  Week 2 Review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· PROPOSED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System: Core Features &amp;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933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41448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Quotation Builder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80720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discount auto-applies (Platinum 15% / Gold 10% / Silver 5% / Dealer 20%); one click converts a quote to a live order.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874520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9933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441448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Route Optimization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80560" y="280720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Nearest-Neighbor algorithm (Haversine formula) reorders stops to minimize driver travel distance before dispatch.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1874520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99339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441448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Route Map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29600" y="280720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OpenStreetMap view via React-Leaflet — warehouse origin, stop pins, and connecting polyline.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1422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590288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Proof of Delivery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1520" y="495604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 signatory name, photo reference, and delivered quantity per stop; failed deliveries log a reason code.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384048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0560" y="4023360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14223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590288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Driver Notifications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80560" y="495604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writes an alert on dispatch; frontend polls every 10 seconds and surfaces a toast on the driver's dashboard.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384048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4023360"/>
            <a:ext cx="457200" cy="457200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414223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4590288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Fleet &amp; Role Management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29600" y="495604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Vehicles auto-lock to 'In Transit' on dispatch; every login is server-guarded by role (Admin / Driver / Warehouse / Customer).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GangaMaxx Last-Mile Delivery Tracker  |  Week 2 Review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·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 of the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073C46"/>
          </a:solidFill>
        </p:spPr>
      </p:sp>
      <p:sp>
        <p:nvSpPr>
          <p:cNvPr id="5" name="Shape 3"/>
          <p:cNvSpPr/>
          <p:nvPr/>
        </p:nvSpPr>
        <p:spPr>
          <a:xfrm>
            <a:off x="713232" y="1856232"/>
            <a:ext cx="411480" cy="411480"/>
          </a:xfrm>
          <a:prstGeom prst="ellipse">
            <a:avLst/>
          </a:prstGeom>
          <a:solidFill>
            <a:srgbClr val="1C8C9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7" y="1963217"/>
            <a:ext cx="197510" cy="1975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350008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2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&lt;10s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13232" y="2898648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Driver notified after dispatch, vs. manual WhatsApp messaging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01568" y="1691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073C46"/>
          </a:solidFill>
        </p:spPr>
      </p:sp>
      <p:sp>
        <p:nvSpPr>
          <p:cNvPr id="10" name="Shape 7"/>
          <p:cNvSpPr/>
          <p:nvPr/>
        </p:nvSpPr>
        <p:spPr>
          <a:xfrm>
            <a:off x="3566160" y="1856232"/>
            <a:ext cx="411480" cy="411480"/>
          </a:xfrm>
          <a:prstGeom prst="ellipse">
            <a:avLst/>
          </a:prstGeom>
          <a:solidFill>
            <a:srgbClr val="1C8C9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145" y="1963217"/>
            <a:ext cx="197510" cy="1975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350008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2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step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566160" y="2898648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Quotation to live order, replacing re-keying into a separate system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54496" y="1691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073C46"/>
          </a:solidFill>
        </p:spPr>
      </p:sp>
      <p:sp>
        <p:nvSpPr>
          <p:cNvPr id="15" name="Shape 11"/>
          <p:cNvSpPr/>
          <p:nvPr/>
        </p:nvSpPr>
        <p:spPr>
          <a:xfrm>
            <a:off x="6419088" y="1856232"/>
            <a:ext cx="411480" cy="411480"/>
          </a:xfrm>
          <a:prstGeom prst="ellipse">
            <a:avLst/>
          </a:prstGeom>
          <a:solidFill>
            <a:srgbClr val="1C8C90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73" y="1963217"/>
            <a:ext cx="197510" cy="1975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9088" y="2350008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2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system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419088" y="2898648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Replaces spreadsheets, WhatsApp, and verbal handoffs for dispatch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107424" y="1691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073C46"/>
          </a:solidFill>
        </p:spPr>
      </p:sp>
      <p:sp>
        <p:nvSpPr>
          <p:cNvPr id="20" name="Shape 15"/>
          <p:cNvSpPr/>
          <p:nvPr/>
        </p:nvSpPr>
        <p:spPr>
          <a:xfrm>
            <a:off x="9272016" y="1856232"/>
            <a:ext cx="411480" cy="411480"/>
          </a:xfrm>
          <a:prstGeom prst="ellipse">
            <a:avLst/>
          </a:prstGeom>
          <a:solidFill>
            <a:srgbClr val="1C8C90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001" y="1963217"/>
            <a:ext cx="197510" cy="1975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2350008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2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Shortest route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272016" y="2898648"/>
            <a:ext cx="227685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Auto-computed per run via Nearest-Neighbor optimization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48640" y="3794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COMPARISON TO THE MANUAL WORKFLOW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16052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BEFEA"/>
          </a:solidFill>
        </p:spPr>
      </p:sp>
      <p:sp>
        <p:nvSpPr>
          <p:cNvPr id="26" name="Text 20"/>
          <p:cNvSpPr/>
          <p:nvPr/>
        </p:nvSpPr>
        <p:spPr>
          <a:xfrm>
            <a:off x="777240" y="42793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04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77240" y="45720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proof: paper or WhatsApp photo, no link to order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 planning: driver decides on the spot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status check: phone call to sales team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Quotation: Word document or verbal pricing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172200" y="416052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E7F3F1"/>
          </a:solidFill>
        </p:spPr>
      </p:sp>
      <p:sp>
        <p:nvSpPr>
          <p:cNvPr id="29" name="Text 23"/>
          <p:cNvSpPr/>
          <p:nvPr/>
        </p:nvSpPr>
        <p:spPr>
          <a:xfrm>
            <a:off x="6400800" y="427939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73C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— GANGAMAXX TRACKER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400800" y="45720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proof: digital signature + photo + qty, on the order record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 planning: AI-optimized sequence before dispatch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status check: self-service portal, real time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Quotation: PDF-ready, tier discount auto-applied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GangaMaxx Last-Mile Delivery Tracker  |  Week 2 Review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· 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 &amp; Why We Chose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56232"/>
            <a:ext cx="420624" cy="420624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594" y="1965594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1819656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React.js + Vite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43584" y="210312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2441448"/>
            <a:ext cx="323697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dev cycle and component reuse for role-based dashboards.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62272" y="1856232"/>
            <a:ext cx="420624" cy="420624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634" y="1965594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92624" y="1819656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 + Express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92624" y="210312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462272" y="2441448"/>
            <a:ext cx="323697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REST API, well-suited for a 4-week build timeline.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11312" y="1856232"/>
            <a:ext cx="420624" cy="420624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0674" y="1965594"/>
            <a:ext cx="201900" cy="201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41664" y="1819656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Prisma ORM + SQLite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741664" y="210312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11312" y="2441448"/>
            <a:ext cx="323697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Type-safe queries during dev; SQLite needs zero setup, upgrades cleanly to PostgreSQL.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4747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13232" y="3639312"/>
            <a:ext cx="420624" cy="420624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94" y="3748674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43584" y="3602736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React-Leaflet + OSM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243584" y="388620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13232" y="4224528"/>
            <a:ext cx="323697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interactive maps with no API key or billing — important for a student budget.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97680" y="34747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62272" y="3639312"/>
            <a:ext cx="420624" cy="420624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634" y="3748674"/>
            <a:ext cx="201900" cy="2019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992624" y="3602736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bcryptjs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992624" y="388620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462272" y="4224528"/>
            <a:ext cx="323697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Industry-standard password hashing for all staff and customer accounts.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046720" y="347472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4F8F8"/>
          </a:solidFill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11312" y="3639312"/>
            <a:ext cx="420624" cy="420624"/>
          </a:xfrm>
          <a:prstGeom prst="ellipse">
            <a:avLst/>
          </a:prstGeom>
          <a:solidFill>
            <a:srgbClr val="0B5563"/>
          </a:solidFill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0674" y="3748674"/>
            <a:ext cx="201900" cy="2019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741664" y="3602736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Nearest-Neighbor (Haversine)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8741664" y="388620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LAYER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8211312" y="4224528"/>
            <a:ext cx="3236976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Simple, explainable route heuristic — no GPU or paid optimization API required.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GangaMaxx Last-Mile Delivery Tracker  |  Week 2 Review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· PROJECT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Updated Project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0B5563"/>
          </a:solidFill>
        </p:spPr>
      </p:sp>
      <p:sp>
        <p:nvSpPr>
          <p:cNvPr id="5" name="Shape 3"/>
          <p:cNvSpPr/>
          <p:nvPr/>
        </p:nvSpPr>
        <p:spPr>
          <a:xfrm>
            <a:off x="731520" y="1874520"/>
            <a:ext cx="2331720" cy="320040"/>
          </a:xfrm>
          <a:prstGeom prst="roundRect">
            <a:avLst>
              <a:gd name="adj" fmla="val 51429"/>
            </a:avLst>
          </a:prstGeom>
          <a:solidFill>
            <a:srgbClr val="1C8C90"/>
          </a:solidFill>
        </p:spPr>
      </p:sp>
      <p:sp>
        <p:nvSpPr>
          <p:cNvPr id="6" name="Text 4"/>
          <p:cNvSpPr/>
          <p:nvPr/>
        </p:nvSpPr>
        <p:spPr>
          <a:xfrm>
            <a:off x="731520" y="187452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71576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Definition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136392"/>
            <a:ext cx="2331720" cy="0"/>
          </a:xfrm>
          <a:prstGeom prst="line">
            <a:avLst/>
          </a:prstGeom>
          <a:noFill/>
          <a:ln w="9525">
            <a:solidFill>
              <a:srgbClr val="D6E8E9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233172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statement, objectives, and scope finalized with mentor sign-off.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10712" y="169164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0B5563"/>
          </a:solidFill>
        </p:spPr>
      </p:sp>
      <p:sp>
        <p:nvSpPr>
          <p:cNvPr id="12" name="Shape 10"/>
          <p:cNvSpPr/>
          <p:nvPr/>
        </p:nvSpPr>
        <p:spPr>
          <a:xfrm>
            <a:off x="3593592" y="1874520"/>
            <a:ext cx="2331720" cy="320040"/>
          </a:xfrm>
          <a:prstGeom prst="roundRect">
            <a:avLst>
              <a:gd name="adj" fmla="val 51429"/>
            </a:avLst>
          </a:prstGeom>
          <a:solidFill>
            <a:srgbClr val="1C8C90"/>
          </a:solidFill>
        </p:spPr>
      </p:sp>
      <p:sp>
        <p:nvSpPr>
          <p:cNvPr id="13" name="Text 11"/>
          <p:cNvSpPr/>
          <p:nvPr/>
        </p:nvSpPr>
        <p:spPr>
          <a:xfrm>
            <a:off x="3593592" y="187452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93592" y="23317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93592" y="271576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&amp; Design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93592" y="3136392"/>
            <a:ext cx="2331720" cy="0"/>
          </a:xfrm>
          <a:prstGeom prst="line">
            <a:avLst/>
          </a:prstGeom>
          <a:noFill/>
          <a:ln w="9525">
            <a:solidFill>
              <a:srgbClr val="D6E8E9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3291840"/>
            <a:ext cx="233172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survey, existing system analysis, schema design, and tech stack finalized (this review).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72784" y="169164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073C46"/>
          </a:solidFill>
        </p:spPr>
      </p:sp>
      <p:sp>
        <p:nvSpPr>
          <p:cNvPr id="19" name="Shape 17"/>
          <p:cNvSpPr/>
          <p:nvPr/>
        </p:nvSpPr>
        <p:spPr>
          <a:xfrm>
            <a:off x="6455664" y="1874520"/>
            <a:ext cx="2331720" cy="320040"/>
          </a:xfrm>
          <a:prstGeom prst="roundRect">
            <a:avLst>
              <a:gd name="adj" fmla="val 51429"/>
            </a:avLst>
          </a:prstGeom>
          <a:solidFill>
            <a:srgbClr val="E8A23D"/>
          </a:solidFill>
        </p:spPr>
      </p:sp>
      <p:sp>
        <p:nvSpPr>
          <p:cNvPr id="20" name="Text 18"/>
          <p:cNvSpPr/>
          <p:nvPr/>
        </p:nvSpPr>
        <p:spPr>
          <a:xfrm>
            <a:off x="6455664" y="187452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55664" y="23317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55664" y="271576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Build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55664" y="3136392"/>
            <a:ext cx="2331720" cy="0"/>
          </a:xfrm>
          <a:prstGeom prst="line">
            <a:avLst/>
          </a:prstGeom>
          <a:noFill/>
          <a:ln w="9525">
            <a:solidFill>
              <a:srgbClr val="D6E8E9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3291840"/>
            <a:ext cx="233172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8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Auth, CRM, Quotation Builder, Delivery Tracker, route map, and AI route optimization implemented.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34856" y="169164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4F8F8"/>
          </a:solidFill>
        </p:spPr>
      </p:sp>
      <p:sp>
        <p:nvSpPr>
          <p:cNvPr id="26" name="Shape 24"/>
          <p:cNvSpPr/>
          <p:nvPr/>
        </p:nvSpPr>
        <p:spPr>
          <a:xfrm>
            <a:off x="9317736" y="1874520"/>
            <a:ext cx="2331720" cy="320040"/>
          </a:xfrm>
          <a:prstGeom prst="roundRect">
            <a:avLst>
              <a:gd name="adj" fmla="val 51429"/>
            </a:avLst>
          </a:prstGeom>
          <a:solidFill>
            <a:srgbClr val="5B6B6E"/>
          </a:solidFill>
        </p:spPr>
      </p:sp>
      <p:sp>
        <p:nvSpPr>
          <p:cNvPr id="27" name="Text 25"/>
          <p:cNvSpPr/>
          <p:nvPr/>
        </p:nvSpPr>
        <p:spPr>
          <a:xfrm>
            <a:off x="9317736" y="187452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317736" y="23317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17736" y="271576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Polish &amp; Demo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317736" y="3136392"/>
            <a:ext cx="2331720" cy="0"/>
          </a:xfrm>
          <a:prstGeom prst="line">
            <a:avLst/>
          </a:prstGeom>
          <a:noFill/>
          <a:ln w="9525">
            <a:solidFill>
              <a:srgbClr val="5B6B6E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17736" y="3291840"/>
            <a:ext cx="233172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system, reports dashboard, AI assistant widget, end-to-end testing, and final demo prep.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GangaMaxx Last-Mile Delivery Tracker  |  Week 2 Review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943600" cy="5943600"/>
          </a:xfrm>
          <a:prstGeom prst="ellipse">
            <a:avLst/>
          </a:prstGeom>
          <a:solidFill>
            <a:srgbClr val="0B5563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92640" y="-1828800"/>
            <a:ext cx="4114800" cy="4114800"/>
          </a:xfrm>
          <a:prstGeom prst="ellipse">
            <a:avLst/>
          </a:prstGeom>
          <a:solidFill>
            <a:srgbClr val="1C8C90">
              <a:alpha val="5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623560" y="1463040"/>
            <a:ext cx="914400" cy="914400"/>
          </a:xfrm>
          <a:prstGeom prst="ellipse">
            <a:avLst/>
          </a:prstGeom>
          <a:solidFill>
            <a:srgbClr val="1C8C90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304" y="17007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43200"/>
            <a:ext cx="1216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0" y="3520440"/>
            <a:ext cx="1216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FE3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GangaMaxx B2B Delivery Tracker  ·  Week 2 Review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17720" y="4160520"/>
            <a:ext cx="2926080" cy="0"/>
          </a:xfrm>
          <a:prstGeom prst="line">
            <a:avLst/>
          </a:prstGeom>
          <a:noFill/>
          <a:ln w="19050">
            <a:solidFill>
              <a:srgbClr val="1C8C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343400"/>
            <a:ext cx="1216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Thota Shashank   |   G.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Goverdhan </a:t>
            </a:r>
            <a:r>
              <a:rPr lang="en-IN" alt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|   Gautham Krishna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r>
              <a:rPr lang="en-US" sz="1300" dirty="0">
                <a:solidFill>
                  <a:srgbClr val="AFC9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</a:t>
            </a:r>
            <a:r>
              <a:rPr lang="en-US" sz="1300" dirty="0">
                <a:solidFill>
                  <a:srgbClr val="AFC9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 Ganga Maxx Marketplace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8565</Words>
  <Application>WPS Presentation</Application>
  <PresentationFormat>On-screen Show (16:9)</PresentationFormat>
  <Paragraphs>364</Paragraphs>
  <Slides>12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GangaMaxx B2B Delivery Tracker — Week 2 Review</dc:title>
  <dc:creator>Goverdhan</dc:creator>
  <dc:subject>PptxGenJS Presentation</dc:subject>
  <cp:lastModifiedBy>WPS_1726761986</cp:lastModifiedBy>
  <cp:revision>4</cp:revision>
  <dcterms:created xsi:type="dcterms:W3CDTF">2026-06-19T05:38:00Z</dcterms:created>
  <dcterms:modified xsi:type="dcterms:W3CDTF">2026-06-19T06:20:25Z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D24F95F11AFF43E39DCA1E265D0A9609_13</vt:lpwstr>
  </property>
  <property fmtid="{D5CDD505-2E9C-101B-9397-08002B2CF9AE}" pid="3" name="KSOProductBuildVer">
    <vt:lpwstr>2057-12.2.0.23203</vt:lpwstr>
  </property>
</Properties>
</file>